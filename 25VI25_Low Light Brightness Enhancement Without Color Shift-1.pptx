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Relationship Id="rId4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45E59-0C13-4535-B5A5-A6BD13E4FE82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2DC8-680F-4998-977B-36822C994C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2639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45E59-0C13-4535-B5A5-A6BD13E4FE82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2DC8-680F-4998-977B-36822C994C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7463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45E59-0C13-4535-B5A5-A6BD13E4FE82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2DC8-680F-4998-977B-36822C994C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9282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45E59-0C13-4535-B5A5-A6BD13E4FE82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2DC8-680F-4998-977B-36822C994C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1999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45E59-0C13-4535-B5A5-A6BD13E4FE82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2DC8-680F-4998-977B-36822C994C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2148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45E59-0C13-4535-B5A5-A6BD13E4FE82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2DC8-680F-4998-977B-36822C994C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0354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45E59-0C13-4535-B5A5-A6BD13E4FE82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2DC8-680F-4998-977B-36822C994C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2844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45E59-0C13-4535-B5A5-A6BD13E4FE82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2DC8-680F-4998-977B-36822C994C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805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45E59-0C13-4535-B5A5-A6BD13E4FE82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2DC8-680F-4998-977B-36822C994C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806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45E59-0C13-4535-B5A5-A6BD13E4FE82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2DC8-680F-4998-977B-36822C994C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456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45E59-0C13-4535-B5A5-A6BD13E4FE82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E2DC8-680F-4998-977B-36822C994C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7887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B45E59-0C13-4535-B5A5-A6BD13E4FE82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2E2DC8-680F-4998-977B-36822C994C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5216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an0926/DCC-Net" TargetMode="External" /><Relationship Id="rId7" Type="http://schemas.openxmlformats.org/officeDocument/2006/relationships/image" Target="../media/image3.png" /><Relationship Id="rId2" Type="http://schemas.openxmlformats.org/officeDocument/2006/relationships/hyperlink" Target="https://openaccess.thecvf.com/content/CVPR2022/papers/Zhang_Deep_Color_Consistent_Network_for_Low-Light_Image_Enhancement_CVPR_2022_paper.pdf" TargetMode="External" /><Relationship Id="rId1" Type="http://schemas.openxmlformats.org/officeDocument/2006/relationships/slideLayout" Target="../slideLayouts/slideLayout1.xml" /><Relationship Id="rId6" Type="http://schemas.openxmlformats.org/officeDocument/2006/relationships/hyperlink" Target="mailto:r.akella@samsung.com" TargetMode="External" /><Relationship Id="rId5" Type="http://schemas.openxmlformats.org/officeDocument/2006/relationships/image" Target="../media/image2.png" /><Relationship Id="rId4" Type="http://schemas.openxmlformats.org/officeDocument/2006/relationships/image" Target="../media/image1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/>
          <p:cNvSpPr txBox="1"/>
          <p:nvPr/>
        </p:nvSpPr>
        <p:spPr>
          <a:xfrm>
            <a:off x="4006117" y="612614"/>
            <a:ext cx="807639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200" b="1" dirty="0">
              <a:solidFill>
                <a:schemeClr val="accent6"/>
              </a:solidFill>
              <a:latin typeface="SamsungOne 400" panose="020B0503030303020204" pitchFamily="34" charset="0"/>
              <a:ea typeface="SamsungOne 400" panose="020B0503030303020204" pitchFamily="34" charset="0"/>
            </a:endParaRPr>
          </a:p>
          <a:p>
            <a:r>
              <a:rPr lang="en-IN" sz="1200" b="1" dirty="0">
                <a:solidFill>
                  <a:schemeClr val="accent6"/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t>Expectations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SamsungOne 400" panose="020B0503030303020204" pitchFamily="34" charset="0"/>
                <a:ea typeface="SamsungOne 400" panose="020B0503030303020204" pitchFamily="34" charset="0"/>
              </a:rPr>
              <a:t>Optimize and advance a given AI model that can improve the brightness of the lowlight image with out effecting the </a:t>
            </a:r>
            <a:r>
              <a:rPr lang="en-IN" sz="1200" dirty="0" err="1">
                <a:latin typeface="SamsungOne 400" panose="020B0503030303020204" pitchFamily="34" charset="0"/>
                <a:ea typeface="SamsungOne 400" panose="020B0503030303020204" pitchFamily="34" charset="0"/>
              </a:rPr>
              <a:t>color</a:t>
            </a:r>
            <a:r>
              <a:rPr lang="en-IN" sz="1200" dirty="0">
                <a:latin typeface="SamsungOne 400" panose="020B0503030303020204" pitchFamily="34" charset="0"/>
                <a:ea typeface="SamsungOne 400" panose="020B0503030303020204" pitchFamily="34" charset="0"/>
              </a:rPr>
              <a:t> constancy of the image.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200" b="1" dirty="0">
              <a:solidFill>
                <a:schemeClr val="accent6"/>
              </a:solidFill>
              <a:latin typeface="SamsungOne 400" panose="020B0503030303020204" pitchFamily="34" charset="0"/>
              <a:ea typeface="SamsungOne 400" panose="020B0503030303020204" pitchFamily="34" charset="0"/>
            </a:endParaRPr>
          </a:p>
          <a:p>
            <a:r>
              <a:rPr lang="en-IN" sz="1200" b="1" dirty="0">
                <a:solidFill>
                  <a:schemeClr val="accent6"/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t>References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SamsungOne 400" panose="020B0503030303020204" pitchFamily="34" charset="0"/>
                <a:ea typeface="SamsungOne 400" panose="020B0503030303020204" pitchFamily="34" charset="0"/>
                <a:hlinkClick r:id="rId2"/>
              </a:rPr>
              <a:t>https://openaccess.thecvf.com/content/CVPR2022/papers/Zhang_Deep_Color_Consistent_Network_for_Low-Light_Image_Enhancement_CVPR_2022_paper.pdf</a:t>
            </a:r>
            <a:endParaRPr lang="en-IN" sz="1200" dirty="0">
              <a:latin typeface="SamsungOne 400" panose="020B0503030303020204" pitchFamily="34" charset="0"/>
              <a:ea typeface="SamsungOne 400" panose="020B05030303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SamsungOne 400" panose="020B0503030303020204" pitchFamily="34" charset="0"/>
                <a:ea typeface="SamsungOne 400" panose="020B0503030303020204" pitchFamily="34" charset="0"/>
                <a:hlinkClick r:id="rId3"/>
              </a:rPr>
              <a:t>https://github.com/Ian0926/DCC-Net</a:t>
            </a:r>
            <a:endParaRPr lang="en-IN" sz="1200" dirty="0">
              <a:latin typeface="SamsungOne 400" panose="020B0503030303020204" pitchFamily="34" charset="0"/>
              <a:ea typeface="SamsungOne 400" panose="020B05030303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200" dirty="0">
              <a:latin typeface="SamsungOne 400" panose="020B0503030303020204" pitchFamily="34" charset="0"/>
              <a:ea typeface="SamsungOne 400" panose="020B05030303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600" b="1" dirty="0">
              <a:latin typeface="SamsungOne 400" panose="020B0503030303020204" pitchFamily="34" charset="0"/>
              <a:ea typeface="SamsungOne 400" panose="020B0503030303020204" pitchFamily="34" charset="0"/>
            </a:endParaRPr>
          </a:p>
          <a:p>
            <a:pPr lvl="0"/>
            <a:r>
              <a:rPr lang="en-IN" sz="1200" b="1" dirty="0">
                <a:solidFill>
                  <a:schemeClr val="accent6"/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t>Training/ Pre-requisites</a:t>
            </a:r>
          </a:p>
          <a:p>
            <a:pPr marL="177800" lvl="0" indent="-177800">
              <a:buFont typeface="Arial" panose="020B0604020202020204" pitchFamily="34" charset="0"/>
              <a:buChar char="•"/>
            </a:pPr>
            <a:r>
              <a:rPr lang="en-IN" sz="1200" dirty="0">
                <a:latin typeface="SamsungOne 400" panose="020B0503030303020204" pitchFamily="34" charset="0"/>
                <a:ea typeface="SamsungOne 400" panose="020B0503030303020204" pitchFamily="34" charset="0"/>
              </a:rPr>
              <a:t>Understanding in fundamentals of camera imaging and image quality metrics </a:t>
            </a:r>
          </a:p>
          <a:p>
            <a:pPr marL="177800" lvl="0" indent="-177800">
              <a:buFont typeface="Arial" panose="020B0604020202020204" pitchFamily="34" charset="0"/>
              <a:buChar char="•"/>
            </a:pPr>
            <a:r>
              <a:rPr lang="en-IN" sz="1200" dirty="0">
                <a:latin typeface="SamsungOne 400" panose="020B0503030303020204" pitchFamily="34" charset="0"/>
                <a:ea typeface="SamsungOne 400" panose="020B0503030303020204" pitchFamily="34" charset="0"/>
              </a:rPr>
              <a:t>Hands-on knowledge in Image processing, computer vision, machine learning, deep learning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" y="65547"/>
            <a:ext cx="12192000" cy="55060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" y="105045"/>
            <a:ext cx="169332" cy="482531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81898" y="146255"/>
            <a:ext cx="10243702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  <a:latin typeface="SamsungOne 800" panose="020B0903030303020204" pitchFamily="34" charset="0"/>
                <a:ea typeface="SamsungOne 800" panose="020B0903030303020204" pitchFamily="34" charset="0"/>
              </a:rPr>
              <a:t>Optimize and Enhance Lowlight Image without </a:t>
            </a:r>
            <a:r>
              <a:rPr lang="en-IN" sz="2000" dirty="0" err="1">
                <a:solidFill>
                  <a:schemeClr val="bg1"/>
                </a:solidFill>
                <a:latin typeface="SamsungOne 800" panose="020B0903030303020204" pitchFamily="34" charset="0"/>
                <a:ea typeface="SamsungOne 800" panose="020B0903030303020204" pitchFamily="34" charset="0"/>
              </a:rPr>
              <a:t>Color</a:t>
            </a:r>
            <a:r>
              <a:rPr lang="en-IN" sz="2000">
                <a:solidFill>
                  <a:schemeClr val="bg1"/>
                </a:solidFill>
                <a:latin typeface="SamsungOne 800" panose="020B0903030303020204" pitchFamily="34" charset="0"/>
                <a:ea typeface="SamsungOne 800" panose="020B0903030303020204" pitchFamily="34" charset="0"/>
              </a:rPr>
              <a:t> Shift</a:t>
            </a:r>
            <a:endParaRPr lang="en-IN" sz="2000" dirty="0">
              <a:solidFill>
                <a:schemeClr val="bg1"/>
              </a:solidFill>
              <a:latin typeface="SamsungOne 800" panose="020B0903030303020204" pitchFamily="34" charset="0"/>
              <a:ea typeface="SamsungOne 800" panose="020B0903030303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37966" y="105045"/>
            <a:ext cx="75300" cy="48253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4145280" y="4323988"/>
            <a:ext cx="76945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4100636" y="4235595"/>
            <a:ext cx="190741" cy="176786"/>
          </a:xfrm>
          <a:prstGeom prst="ellipse">
            <a:avLst/>
          </a:prstGeom>
          <a:solidFill>
            <a:srgbClr val="92D05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6835766" y="4235595"/>
            <a:ext cx="190741" cy="176786"/>
          </a:xfrm>
          <a:prstGeom prst="ellipse">
            <a:avLst/>
          </a:prstGeom>
          <a:solidFill>
            <a:srgbClr val="92D05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11684612" y="4235595"/>
            <a:ext cx="190741" cy="176786"/>
          </a:xfrm>
          <a:prstGeom prst="ellipse">
            <a:avLst/>
          </a:prstGeom>
          <a:solidFill>
            <a:srgbClr val="92D05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421521" y="4087579"/>
            <a:ext cx="35122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IN" sz="1200" dirty="0"/>
          </a:p>
          <a:p>
            <a:pPr algn="just"/>
            <a:r>
              <a:rPr lang="en-IN" sz="1200" dirty="0"/>
              <a:t>In the real world, when a general user wants to capture images in lowlight, brightness might not be optimal due to certain limitations. While a DNN can help to increase the brightness of the network, it tends to cause </a:t>
            </a:r>
            <a:r>
              <a:rPr lang="en-IN" sz="1200" dirty="0" err="1"/>
              <a:t>color</a:t>
            </a:r>
            <a:r>
              <a:rPr lang="en-IN" sz="1200" dirty="0"/>
              <a:t> shifts compared to the original image. DCC-Net can help to improve brightness of LL image with minimal or no </a:t>
            </a:r>
            <a:r>
              <a:rPr lang="en-IN" sz="1200" dirty="0" err="1"/>
              <a:t>color</a:t>
            </a:r>
            <a:r>
              <a:rPr lang="en-IN" sz="1200" dirty="0"/>
              <a:t> shift.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6117" y="4404917"/>
            <a:ext cx="202207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latin typeface="SamsungOne 400" panose="020B0503030303020204" pitchFamily="34" charset="0"/>
                <a:ea typeface="SamsungOne 400" panose="020B0503030303020204" pitchFamily="34" charset="0"/>
              </a:rPr>
              <a:t>Kick Off &lt; 1</a:t>
            </a:r>
            <a:r>
              <a:rPr lang="en-IN" sz="1200" b="1" baseline="30000" dirty="0">
                <a:latin typeface="SamsungOne 400" panose="020B0503030303020204" pitchFamily="34" charset="0"/>
                <a:ea typeface="SamsungOne 400" panose="020B0503030303020204" pitchFamily="34" charset="0"/>
              </a:rPr>
              <a:t>st</a:t>
            </a:r>
            <a:r>
              <a:rPr lang="en-IN" sz="1200" b="1" dirty="0">
                <a:latin typeface="SamsungOne 400" panose="020B0503030303020204" pitchFamily="34" charset="0"/>
                <a:ea typeface="SamsungOne 400" panose="020B0503030303020204" pitchFamily="34" charset="0"/>
              </a:rPr>
              <a:t>  Month &gt;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SamsungOne 400" panose="020B0503030303020204" pitchFamily="34" charset="0"/>
                <a:ea typeface="SamsungOne 400" panose="020B0503030303020204" pitchFamily="34" charset="0"/>
              </a:rPr>
              <a:t>Implement the codebase publicly available.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SamsungOne 400" panose="020B0503030303020204" pitchFamily="34" charset="0"/>
                <a:ea typeface="SamsungOne 400" panose="020B0503030303020204" pitchFamily="34" charset="0"/>
              </a:rPr>
              <a:t>Check the performance of network in real world scenarios.</a:t>
            </a:r>
          </a:p>
          <a:p>
            <a:endParaRPr lang="en-IN" sz="1200" b="1" dirty="0">
              <a:latin typeface="SamsungOne 400" panose="020B0503030303020204" pitchFamily="34" charset="0"/>
              <a:ea typeface="SamsungOne 400" panose="020B0503030303020204" pitchFamily="34" charset="0"/>
            </a:endParaRPr>
          </a:p>
          <a:p>
            <a:r>
              <a:rPr lang="en-IN" sz="1200" b="1" dirty="0">
                <a:latin typeface="SamsungOne 400" panose="020B0503030303020204" pitchFamily="34" charset="0"/>
                <a:ea typeface="SamsungOne 400" panose="020B0503030303020204" pitchFamily="34" charset="0"/>
              </a:rPr>
              <a:t>Deliverable</a:t>
            </a:r>
            <a:r>
              <a:rPr lang="en-IN" sz="1200" dirty="0">
                <a:latin typeface="SamsungOne 400" panose="020B0503030303020204" pitchFamily="34" charset="0"/>
                <a:ea typeface="SamsungOne 400" panose="020B0503030303020204" pitchFamily="34" charset="0"/>
              </a:rPr>
              <a:t>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SamsungOne 400" panose="020B0503030303020204" pitchFamily="34" charset="0"/>
                <a:ea typeface="SamsungOne 400" panose="020B0503030303020204" pitchFamily="34" charset="0"/>
              </a:rPr>
              <a:t>Understand the network.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SamsungOne 400" panose="020B0503030303020204" pitchFamily="34" charset="0"/>
                <a:ea typeface="SamsungOne 400" panose="020B0503030303020204" pitchFamily="34" charset="0"/>
              </a:rPr>
              <a:t>Identify pros and cons such as scenarios where network is failing.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70933" y="4420636"/>
            <a:ext cx="2050661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latin typeface="SamsungOne 400" panose="020B0503030303020204" pitchFamily="34" charset="0"/>
                <a:ea typeface="SamsungOne 400" panose="020B0503030303020204" pitchFamily="34" charset="0"/>
              </a:rPr>
              <a:t>Milestone 1 &lt; 2</a:t>
            </a:r>
            <a:r>
              <a:rPr lang="en-IN" sz="1200" b="1" baseline="30000" dirty="0">
                <a:latin typeface="SamsungOne 400" panose="020B0503030303020204" pitchFamily="34" charset="0"/>
                <a:ea typeface="SamsungOne 400" panose="020B0503030303020204" pitchFamily="34" charset="0"/>
              </a:rPr>
              <a:t>nd</a:t>
            </a:r>
            <a:r>
              <a:rPr lang="en-IN" sz="1200" b="1" dirty="0">
                <a:latin typeface="SamsungOne 400" panose="020B0503030303020204" pitchFamily="34" charset="0"/>
                <a:ea typeface="SamsungOne 400" panose="020B0503030303020204" pitchFamily="34" charset="0"/>
              </a:rPr>
              <a:t> Month &gt;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SamsungOne 400" panose="020B0503030303020204" pitchFamily="34" charset="0"/>
                <a:ea typeface="SamsungOne 400" panose="020B0503030303020204" pitchFamily="34" charset="0"/>
              </a:rPr>
              <a:t>Do Ablation studies to understand importance of each component.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SamsungOne 400" panose="020B0503030303020204" pitchFamily="34" charset="0"/>
                <a:ea typeface="SamsungOne 400" panose="020B0503030303020204" pitchFamily="34" charset="0"/>
              </a:rPr>
              <a:t>Identify possible components to remove or reduce.</a:t>
            </a:r>
          </a:p>
          <a:p>
            <a:endParaRPr lang="en-IN" sz="1200" b="1" dirty="0">
              <a:latin typeface="SamsungOne 400" panose="020B0503030303020204" pitchFamily="34" charset="0"/>
              <a:ea typeface="SamsungOne 400" panose="020B0503030303020204" pitchFamily="34" charset="0"/>
            </a:endParaRPr>
          </a:p>
          <a:p>
            <a:r>
              <a:rPr lang="en-IN" sz="1200" b="1" dirty="0">
                <a:latin typeface="SamsungOne 400" panose="020B0503030303020204" pitchFamily="34" charset="0"/>
                <a:ea typeface="SamsungOne 400" panose="020B0503030303020204" pitchFamily="34" charset="0"/>
              </a:rPr>
              <a:t>Deliverable</a:t>
            </a:r>
            <a:r>
              <a:rPr lang="en-IN" sz="1200" dirty="0">
                <a:latin typeface="SamsungOne 400" panose="020B0503030303020204" pitchFamily="34" charset="0"/>
                <a:ea typeface="SamsungOne 400" panose="020B0503030303020204" pitchFamily="34" charset="0"/>
              </a:rPr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SamsungOne 400" panose="020B0503030303020204" pitchFamily="34" charset="0"/>
                <a:ea typeface="SamsungOne 400" panose="020B0503030303020204" pitchFamily="34" charset="0"/>
              </a:rPr>
              <a:t>Identify points of improvement.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SamsungOne 400" panose="020B0503030303020204" pitchFamily="34" charset="0"/>
                <a:ea typeface="SamsungOne 400" panose="020B0503030303020204" pitchFamily="34" charset="0"/>
              </a:rPr>
              <a:t>Modify and train.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SamsungOne 400" panose="020B0503030303020204" pitchFamily="34" charset="0"/>
                <a:ea typeface="SamsungOne 400" panose="020B0503030303020204" pitchFamily="34" charset="0"/>
              </a:rPr>
              <a:t>Code delivery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37280" y="4401740"/>
            <a:ext cx="20282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latin typeface="SamsungOne 400" panose="020B0503030303020204" pitchFamily="34" charset="0"/>
                <a:ea typeface="SamsungOne 400" panose="020B0503030303020204" pitchFamily="34" charset="0"/>
              </a:rPr>
              <a:t>Milestone 3&lt; 4</a:t>
            </a:r>
            <a:r>
              <a:rPr lang="en-IN" sz="1200" b="1" baseline="30000" dirty="0">
                <a:latin typeface="SamsungOne 400" panose="020B0503030303020204" pitchFamily="34" charset="0"/>
                <a:ea typeface="SamsungOne 400" panose="020B0503030303020204" pitchFamily="34" charset="0"/>
              </a:rPr>
              <a:t>th</a:t>
            </a:r>
            <a:r>
              <a:rPr lang="en-IN" sz="1200" b="1" dirty="0">
                <a:latin typeface="SamsungOne 400" panose="020B0503030303020204" pitchFamily="34" charset="0"/>
                <a:ea typeface="SamsungOne 400" panose="020B0503030303020204" pitchFamily="34" charset="0"/>
              </a:rPr>
              <a:t> Month &gt;</a:t>
            </a:r>
            <a:endParaRPr lang="en-IN" sz="1200" dirty="0">
              <a:latin typeface="SamsungOne 400" panose="020B0503030303020204" pitchFamily="34" charset="0"/>
              <a:ea typeface="SamsungOne 400" panose="020B0503030303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SamsungOne 400" panose="020B0503030303020204" pitchFamily="34" charset="0"/>
                <a:ea typeface="SamsungOne 400" panose="020B0503030303020204" pitchFamily="34" charset="0"/>
              </a:rPr>
              <a:t>Fine tuning the model and improving results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SamsungOne 400" panose="020B0503030303020204" pitchFamily="34" charset="0"/>
                <a:ea typeface="SamsungOne 400" panose="020B0503030303020204" pitchFamily="34" charset="0"/>
              </a:rPr>
              <a:t>Documentation (Learnings, Findings, Implementation, Source Code)</a:t>
            </a:r>
            <a:br>
              <a:rPr lang="en-IN" sz="1200" dirty="0">
                <a:latin typeface="SamsungOne 400" panose="020B0503030303020204" pitchFamily="34" charset="0"/>
                <a:ea typeface="SamsungOne 400" panose="020B0503030303020204" pitchFamily="34" charset="0"/>
              </a:rPr>
            </a:br>
            <a:endParaRPr lang="en-IN" sz="1200" dirty="0">
              <a:latin typeface="SamsungOne 400" panose="020B0503030303020204" pitchFamily="34" charset="0"/>
              <a:ea typeface="SamsungOne 400" panose="020B0503030303020204" pitchFamily="34" charset="0"/>
            </a:endParaRPr>
          </a:p>
          <a:p>
            <a:r>
              <a:rPr lang="en-IN" sz="1200" b="1" dirty="0">
                <a:latin typeface="SamsungOne 400" panose="020B0503030303020204" pitchFamily="34" charset="0"/>
                <a:ea typeface="SamsungOne 400" panose="020B0503030303020204" pitchFamily="34" charset="0"/>
              </a:rPr>
              <a:t>Deliverable</a:t>
            </a:r>
            <a:r>
              <a:rPr lang="en-IN" sz="1200" dirty="0">
                <a:latin typeface="SamsungOne 400" panose="020B0503030303020204" pitchFamily="34" charset="0"/>
                <a:ea typeface="SamsungOne 400" panose="020B0503030303020204" pitchFamily="34" charset="0"/>
              </a:rPr>
              <a:t>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SamsungOne 400" panose="020B0503030303020204" pitchFamily="34" charset="0"/>
                <a:ea typeface="SamsungOne 400" panose="020B0503030303020204" pitchFamily="34" charset="0"/>
              </a:rPr>
              <a:t>Final Results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SamsungOne 400" panose="020B0503030303020204" pitchFamily="34" charset="0"/>
                <a:ea typeface="SamsungOne 400" panose="020B0503030303020204" pitchFamily="34" charset="0"/>
              </a:rPr>
              <a:t>Code delivery 3 (Final)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SamsungOne 400" panose="020B0503030303020204" pitchFamily="34" charset="0"/>
                <a:ea typeface="SamsungOne 400" panose="020B0503030303020204" pitchFamily="34" charset="0"/>
              </a:rPr>
              <a:t>Report Out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647709" y="587576"/>
            <a:ext cx="43829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/>
              <a:t>Work-let expected duration – 4 months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7796" y="3749025"/>
            <a:ext cx="24045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Trebuchet MS" panose="020B0603020202020204" pitchFamily="34" charset="0"/>
                <a:ea typeface="SamsungOne 600C" panose="020B0706030303020204" pitchFamily="34" charset="0"/>
              </a:rPr>
              <a:t>[ Problem Statement ]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2744" y="216349"/>
            <a:ext cx="1095584" cy="160879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97" t="63284" r="23866" b="12498"/>
          <a:stretch/>
        </p:blipFill>
        <p:spPr>
          <a:xfrm>
            <a:off x="11005247" y="36140"/>
            <a:ext cx="1103197" cy="515405"/>
          </a:xfrm>
          <a:prstGeom prst="rect">
            <a:avLst/>
          </a:prstGeom>
          <a:noFill/>
        </p:spPr>
      </p:pic>
      <p:sp>
        <p:nvSpPr>
          <p:cNvPr id="35" name="Oval 34"/>
          <p:cNvSpPr/>
          <p:nvPr/>
        </p:nvSpPr>
        <p:spPr>
          <a:xfrm>
            <a:off x="8888696" y="4251308"/>
            <a:ext cx="190741" cy="176786"/>
          </a:xfrm>
          <a:prstGeom prst="ellipse">
            <a:avLst/>
          </a:prstGeom>
          <a:solidFill>
            <a:srgbClr val="92D05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8065329" y="4432261"/>
            <a:ext cx="202821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latin typeface="SamsungOne 400" panose="020B0503030303020204" pitchFamily="34" charset="0"/>
                <a:ea typeface="SamsungOne 400" panose="020B0503030303020204" pitchFamily="34" charset="0"/>
              </a:rPr>
              <a:t>Milestone 2&lt; 3</a:t>
            </a:r>
            <a:r>
              <a:rPr lang="en-IN" sz="1200" b="1" baseline="30000" dirty="0">
                <a:latin typeface="SamsungOne 400" panose="020B0503030303020204" pitchFamily="34" charset="0"/>
                <a:ea typeface="SamsungOne 400" panose="020B0503030303020204" pitchFamily="34" charset="0"/>
              </a:rPr>
              <a:t>rd</a:t>
            </a:r>
            <a:r>
              <a:rPr lang="en-IN" sz="1200" b="1" dirty="0">
                <a:latin typeface="SamsungOne 400" panose="020B0503030303020204" pitchFamily="34" charset="0"/>
                <a:ea typeface="SamsungOne 400" panose="020B0503030303020204" pitchFamily="34" charset="0"/>
              </a:rPr>
              <a:t> Month &gt;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SamsungOne 400" panose="020B0503030303020204" pitchFamily="34" charset="0"/>
                <a:ea typeface="SamsungOne 400" panose="020B0503030303020204" pitchFamily="34" charset="0"/>
              </a:rPr>
              <a:t>Identify networks that worked on a con of this network.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SamsungOne 400" panose="020B0503030303020204" pitchFamily="34" charset="0"/>
                <a:ea typeface="SamsungOne 400" panose="020B0503030303020204" pitchFamily="34" charset="0"/>
              </a:rPr>
              <a:t>If not, choose a con to improve the network</a:t>
            </a:r>
          </a:p>
          <a:p>
            <a:endParaRPr lang="en-IN" sz="1200" b="1" dirty="0">
              <a:latin typeface="SamsungOne 400" panose="020B0503030303020204" pitchFamily="34" charset="0"/>
              <a:ea typeface="SamsungOne 400" panose="020B0503030303020204" pitchFamily="34" charset="0"/>
            </a:endParaRPr>
          </a:p>
          <a:p>
            <a:r>
              <a:rPr lang="en-IN" sz="1200" b="1" dirty="0">
                <a:latin typeface="SamsungOne 400" panose="020B0503030303020204" pitchFamily="34" charset="0"/>
                <a:ea typeface="SamsungOne 400" panose="020B0503030303020204" pitchFamily="34" charset="0"/>
              </a:rPr>
              <a:t>Deliverable</a:t>
            </a:r>
            <a:r>
              <a:rPr lang="en-IN" sz="1200" dirty="0">
                <a:latin typeface="SamsungOne 400" panose="020B0503030303020204" pitchFamily="34" charset="0"/>
                <a:ea typeface="SamsungOne 400" panose="020B0503030303020204" pitchFamily="34" charset="0"/>
              </a:rPr>
              <a:t>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SamsungOne 400" panose="020B0503030303020204" pitchFamily="34" charset="0"/>
                <a:ea typeface="SamsungOne 400" panose="020B0503030303020204" pitchFamily="34" charset="0"/>
              </a:rPr>
              <a:t>Modify and train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SamsungOne 400" panose="020B0503030303020204" pitchFamily="34" charset="0"/>
                <a:ea typeface="SamsungOne 400" panose="020B0503030303020204" pitchFamily="34" charset="0"/>
              </a:rPr>
              <a:t>Code delivery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200" dirty="0">
              <a:latin typeface="SamsungOne 400" panose="020B0503030303020204" pitchFamily="34" charset="0"/>
              <a:ea typeface="SamsungOne 400" panose="020B0503030303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3888" y="5867107"/>
            <a:ext cx="27835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/>
              <a:t>Mentors: batchu.kumar@samsung.com, </a:t>
            </a:r>
          </a:p>
          <a:p>
            <a:r>
              <a:rPr lang="en-IN" sz="1200" b="1" dirty="0"/>
              <a:t>                 </a:t>
            </a:r>
            <a:r>
              <a:rPr lang="en-IN" sz="1200" b="1" dirty="0">
                <a:hlinkClick r:id="rId6"/>
              </a:rPr>
              <a:t>r.akella@samsung.com</a:t>
            </a:r>
            <a:endParaRPr lang="en-IN" sz="1200" b="1" dirty="0"/>
          </a:p>
          <a:p>
            <a:r>
              <a:rPr lang="en-IN" sz="1200" b="1" dirty="0"/>
              <a:t>                 janmejaya.p@samsung.com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333" y="1078063"/>
            <a:ext cx="3669684" cy="199887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03869" y="3139047"/>
            <a:ext cx="20789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DCC-Net: To be worked on</a:t>
            </a:r>
          </a:p>
        </p:txBody>
      </p:sp>
    </p:spTree>
    <p:extLst>
      <p:ext uri="{BB962C8B-B14F-4D97-AF65-F5344CB8AC3E}">
        <p14:creationId xmlns:p14="http://schemas.microsoft.com/office/powerpoint/2010/main" val="1648260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Karanvir Singh</cp:lastModifiedBy>
  <cp:revision>1</cp:revision>
  <dcterms:modified xsi:type="dcterms:W3CDTF">2026-06-28T10:10:52Z</dcterms:modified>
</cp:coreProperties>
</file>