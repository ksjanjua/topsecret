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7" r:id="rId5"/>
    <p:sldId id="264" r:id="rId6"/>
    <p:sldId id="259" r:id="rId7"/>
    <p:sldId id="260" r:id="rId8"/>
    <p:sldId id="262" r:id="rId9"/>
    <p:sldId id="261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094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notesMaster" Target="notesMasters/notesMaster1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viewProps" Target="viewProp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71876-1B18-4FE2-A6E7-C3E962FD2574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169CD-28AB-4CBA-9427-94BDB200D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1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-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3B71A-2468-47CC-84B3-BEC2926675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3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14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97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9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7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9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6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43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13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57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40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25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8DD01-AE08-4A25-9CC2-15C43E463F5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E256A-689B-4633-8C14-79D717157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80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 /><Relationship Id="rId3" Type="http://schemas.openxmlformats.org/officeDocument/2006/relationships/image" Target="../media/image2.png" /><Relationship Id="rId7" Type="http://schemas.openxmlformats.org/officeDocument/2006/relationships/hyperlink" Target="https://github.com/bbejeck/sql-for-lucene" TargetMode="Externa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hyperlink" Target="https://lucene.apache.org/" TargetMode="External" /><Relationship Id="rId5" Type="http://schemas.openxmlformats.org/officeDocument/2006/relationships/hyperlink" Target="mailto:vanraj.vala@samsung.com" TargetMode="External" /><Relationship Id="rId10" Type="http://schemas.openxmlformats.org/officeDocument/2006/relationships/image" Target="../media/image5.png" /><Relationship Id="rId4" Type="http://schemas.openxmlformats.org/officeDocument/2006/relationships/hyperlink" Target="mailto:srevatsa@samsung.com" TargetMode="External" /><Relationship Id="rId9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prism.srib@gmail.com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75616" y="3254597"/>
            <a:ext cx="11591922" cy="24146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8" y="53922"/>
            <a:ext cx="94021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32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[Samsung PRISM] End Review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1938" y="3343028"/>
            <a:ext cx="42566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Working Team Details [Name &amp; Email ID] 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244" y="3737243"/>
            <a:ext cx="1089237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Professor(s):</a:t>
            </a:r>
            <a:endParaRPr lang="en-IN" i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Students:</a:t>
            </a:r>
          </a:p>
          <a:p>
            <a:pPr marL="685800" lvl="1" indent="-228600">
              <a:buAutoNum type="arabicPeriod"/>
            </a:pPr>
            <a:r>
              <a:rPr lang="en-IN" sz="1400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</a:t>
            </a:r>
          </a:p>
          <a:p>
            <a:pPr marL="685800" lvl="1" indent="-228600">
              <a:buAutoNum type="arabicPeriod"/>
            </a:pPr>
            <a:r>
              <a:rPr lang="en-IN" sz="1400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</a:t>
            </a:r>
          </a:p>
          <a:p>
            <a:pPr marL="685800" lvl="1" indent="-228600">
              <a:buAutoNum type="arabicPeriod"/>
            </a:pPr>
            <a:r>
              <a:rPr lang="en-IN" sz="1400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</a:t>
            </a:r>
          </a:p>
          <a:p>
            <a:pPr marL="685800" lvl="1" indent="-228600">
              <a:buAutoNum type="arabicPeriod"/>
            </a:pPr>
            <a:r>
              <a:rPr lang="en-IN" sz="1400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</a:t>
            </a:r>
          </a:p>
          <a:p>
            <a:pPr marL="228600" indent="-228600">
              <a:buAutoNum type="arabicPeriod"/>
            </a:pPr>
            <a:r>
              <a:rPr lang="en-IN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Department: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433" y="6437194"/>
            <a:ext cx="203256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5 Nov 2019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08136" y="2277799"/>
            <a:ext cx="940218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4000" b="1" i="1" dirty="0">
                <a:latin typeface="SamsungOne 700" panose="020B0803030303020204" pitchFamily="34" charset="0"/>
                <a:ea typeface="SamsungOne 700" panose="020B0803030303020204" pitchFamily="34" charset="0"/>
              </a:rPr>
              <a:t>[ NAME OF WORK-LET]</a:t>
            </a:r>
          </a:p>
        </p:txBody>
      </p:sp>
    </p:spTree>
    <p:extLst>
      <p:ext uri="{BB962C8B-B14F-4D97-AF65-F5344CB8AC3E}">
        <p14:creationId xmlns:p14="http://schemas.microsoft.com/office/powerpoint/2010/main" val="1915069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851884"/>
            <a:ext cx="5012267" cy="60061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898" y="146254"/>
            <a:ext cx="88975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 Information Retrieval </a:t>
            </a:r>
            <a:r>
              <a:rPr lang="en-IN" sz="2000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| </a:t>
            </a: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SQL to Lucene Query Parser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133" y="206714"/>
            <a:ext cx="1811867" cy="3808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5333998" y="5596468"/>
            <a:ext cx="5435602" cy="143934"/>
            <a:chOff x="5926666" y="5681136"/>
            <a:chExt cx="5435602" cy="143934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6002866" y="5753103"/>
              <a:ext cx="531706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5926666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7690533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454400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11218268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81898" y="896920"/>
            <a:ext cx="44525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B0F0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Problem Statement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 is a High Performance Text Search Engine implemented in Java. 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The Query to search Text has to be created using Lucene APIs 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There have been limited attempts to use SQL for forming Lucene Queries. While SQL query is quite famous among developers but </a:t>
            </a:r>
            <a:r>
              <a:rPr lang="en-IN" sz="11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query not.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When giving </a:t>
            </a:r>
            <a:r>
              <a:rPr lang="en-IN" sz="11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engine API for text retrieval engine to 3</a:t>
            </a:r>
            <a:r>
              <a:rPr lang="en-IN" sz="1100" baseline="30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rd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party there is learning curve from the developer end to adapt the </a:t>
            </a:r>
            <a:r>
              <a:rPr lang="en-IN" sz="11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query which can cause the integration delay.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The problem statement is to create a module which can take SQL queries as Input and Output an equivalent </a:t>
            </a:r>
            <a:r>
              <a:rPr lang="en-IN" sz="11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Query in real time processing speed so that developer can use the </a:t>
            </a:r>
            <a:r>
              <a:rPr lang="en-IN" sz="11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engine without learning new query syntax (</a:t>
            </a:r>
            <a:r>
              <a:rPr lang="en-IN" sz="11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</a:t>
            </a: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in this case)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This will create the abstraction which allow less coupling with any indexing engine.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11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1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1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5749" y="5841997"/>
            <a:ext cx="1261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Srevatsa</a:t>
            </a:r>
            <a:r>
              <a:rPr lang="en-IN" sz="8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, Director</a:t>
            </a:r>
          </a:p>
          <a:p>
            <a:pPr algn="ctr"/>
            <a:r>
              <a:rPr lang="en-IN" sz="800" dirty="0">
                <a:latin typeface="SamsungOne 600C" panose="020B0706030303020204" pitchFamily="34" charset="0"/>
                <a:ea typeface="SamsungOne 600C" panose="020B0706030303020204" pitchFamily="34" charset="0"/>
                <a:hlinkClick r:id="rId4"/>
              </a:rPr>
              <a:t>srevatsa@samsung.com</a:t>
            </a:r>
            <a:endParaRPr lang="en-IN" sz="8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67158" y="5841997"/>
            <a:ext cx="1412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Vanraj</a:t>
            </a:r>
            <a:r>
              <a:rPr lang="en-IN" sz="8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, Manager</a:t>
            </a:r>
          </a:p>
          <a:p>
            <a:pPr algn="ctr"/>
            <a:r>
              <a:rPr lang="en-IN" sz="8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5"/>
              </a:rPr>
              <a:t>vanraj.vala@samsung.com</a:t>
            </a:r>
            <a:endParaRPr lang="en-IN" sz="8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2949267" y="4833201"/>
            <a:ext cx="0" cy="158453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23931" y="5816601"/>
            <a:ext cx="1363133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Kick Off  15 Sep 18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Understand Lucene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Implement Lucene Queries</a:t>
            </a:r>
            <a:endParaRPr lang="en-US" sz="9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49720" y="5816601"/>
            <a:ext cx="1542345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Milestone 1 15 Oct 18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Basic Select Statements to Lucene Query working with projection and selection </a:t>
            </a:r>
            <a:r>
              <a:rPr lang="en-IN" sz="900" dirty="0" err="1">
                <a:latin typeface="SamsungOne 600C" panose="020B0706030303020204" pitchFamily="34" charset="0"/>
                <a:ea typeface="SamsungOne 600C" panose="020B0706030303020204" pitchFamily="34" charset="0"/>
              </a:rPr>
              <a:t>args</a:t>
            </a: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5509" y="5816601"/>
            <a:ext cx="1603023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Milestone 2 15 Nov 18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Insert , Update and Delete SQL Query to Lucene Query Working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Test Case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1298" y="5816601"/>
            <a:ext cx="1363133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Closure 31st Dec 18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Project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Test Case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Demonstration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9697" y="5129484"/>
            <a:ext cx="199244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1000" b="1" dirty="0">
                <a:solidFill>
                  <a:srgbClr val="00B0F0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Additional Documentation:</a:t>
            </a:r>
          </a:p>
          <a:p>
            <a:pPr lvl="0"/>
            <a:r>
              <a:rPr lang="en-IN" sz="1000" b="1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Lucene:</a:t>
            </a:r>
          </a:p>
          <a:p>
            <a:pPr lvl="0"/>
            <a:r>
              <a:rPr lang="en-IN" sz="1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6"/>
              </a:rPr>
              <a:t>https://lucene.apache.org/</a:t>
            </a:r>
            <a:endParaRPr lang="en-IN" sz="10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lvl="0"/>
            <a:endParaRPr lang="en-IN" sz="10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lvl="0"/>
            <a:r>
              <a:rPr lang="en-IN" sz="1000" b="1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SQL To Lucene Sample :</a:t>
            </a:r>
          </a:p>
          <a:p>
            <a:pPr lvl="0"/>
            <a:r>
              <a:rPr lang="en-IN" sz="1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7"/>
              </a:rPr>
              <a:t>https://github.com/bbejeck/sql-for-lucene</a:t>
            </a:r>
            <a:endParaRPr lang="en-IN" sz="10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lvl="0"/>
            <a:endParaRPr lang="en-IN" sz="1000" dirty="0">
              <a:solidFill>
                <a:prstClr val="black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27001" y="896920"/>
            <a:ext cx="684646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Expectations</a:t>
            </a:r>
          </a:p>
          <a:p>
            <a:pPr marL="228600" indent="-228600">
              <a:buAutoNum type="arabicPeriod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 java library with API (s) to take SQL text query as Input and return a valid equivalent Lucene Query.  Mapping Simple and Complex SQL queries to Lucene Query</a:t>
            </a:r>
          </a:p>
          <a:p>
            <a:pPr marL="228600" indent="-228600">
              <a:buAutoNum type="arabicPeriod"/>
            </a:pPr>
            <a:endParaRPr lang="en-IN" sz="1100" dirty="0">
              <a:solidFill>
                <a:schemeClr val="tx1">
                  <a:lumMod val="50000"/>
                  <a:lumOff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The SELECT, UPDATE, INSERT and DELETE APIs should be implemented.</a:t>
            </a:r>
          </a:p>
          <a:p>
            <a:pPr marL="228600" indent="-228600">
              <a:buAutoNum type="arabicPeriod"/>
            </a:pPr>
            <a:endParaRPr lang="en-IN" sz="1100" dirty="0">
              <a:solidFill>
                <a:schemeClr val="tx1">
                  <a:lumMod val="50000"/>
                  <a:lumOff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Sufficient level of argument complexity should be taken care of. (e.g. Range Query with BETWEEN etc.)</a:t>
            </a:r>
          </a:p>
          <a:p>
            <a:pPr marL="228600" indent="-228600">
              <a:buAutoNum type="arabicPeriod"/>
            </a:pPr>
            <a:endParaRPr lang="en-IN" sz="1100" dirty="0">
              <a:solidFill>
                <a:schemeClr val="tx1">
                  <a:lumMod val="50000"/>
                  <a:lumOff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Automatic Unit Test cases running various combinations of SQL Queries and Testing Lucene Query Equivalence.</a:t>
            </a:r>
          </a:p>
          <a:p>
            <a:pPr marL="228600" indent="-228600">
              <a:buAutoNum type="arabicPeriod"/>
            </a:pPr>
            <a:endParaRPr lang="en-IN" sz="1100" dirty="0">
              <a:solidFill>
                <a:schemeClr val="tx1">
                  <a:lumMod val="50000"/>
                  <a:lumOff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API Document, Design Document, Implemented Project Code, Unit Test Report.</a:t>
            </a:r>
          </a:p>
          <a:p>
            <a:endParaRPr lang="en-IN" sz="1100" dirty="0">
              <a:solidFill>
                <a:schemeClr val="tx1">
                  <a:lumMod val="50000"/>
                  <a:lumOff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lvl="0"/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Training/ Pre-requisites</a:t>
            </a:r>
          </a:p>
          <a:p>
            <a:pPr marL="177800" lvl="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Trained in Java</a:t>
            </a:r>
          </a:p>
          <a:p>
            <a:pPr marL="177800" lvl="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Completed Courses:</a:t>
            </a:r>
          </a:p>
          <a:p>
            <a:pPr marL="635000" lvl="1" indent="-177800">
              <a:buFont typeface="SamsungOne 400" panose="020B0503030303020204" pitchFamily="34" charset="0"/>
              <a:buChar char="-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Structures</a:t>
            </a:r>
          </a:p>
          <a:p>
            <a:pPr marL="635000" lvl="1" indent="-177800">
              <a:buFont typeface="SamsungOne 400" panose="020B0503030303020204" pitchFamily="34" charset="0"/>
              <a:buChar char="-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Databases</a:t>
            </a:r>
          </a:p>
          <a:p>
            <a:pPr marL="635000" lvl="1" indent="-177800">
              <a:buFont typeface="SamsungOne 400" panose="020B0503030303020204" pitchFamily="34" charset="0"/>
              <a:buChar char="-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Algorithms</a:t>
            </a:r>
          </a:p>
          <a:p>
            <a:endParaRPr lang="en-IN" sz="1400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Student Learning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Information Retrieval Concepts.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Lucence Text Search Engine Usage.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Design of Interfaces.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Test Driven Development.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666" y="5034215"/>
            <a:ext cx="647700" cy="685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9"/>
          <a:srcRect l="5064" t="6220" r="6660" b="6215"/>
          <a:stretch/>
        </p:blipFill>
        <p:spPr>
          <a:xfrm>
            <a:off x="1820091" y="5085806"/>
            <a:ext cx="731520" cy="5921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4702" y="3340891"/>
            <a:ext cx="2651364" cy="1744915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1490925" y="3031114"/>
            <a:ext cx="255639" cy="2753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msungOne 600C" panose="020B0706030303020204" pitchFamily="34" charset="0"/>
                <a:ea typeface="SamsungOne 600C" panose="020B0706030303020204" pitchFamily="34" charset="0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1055" y="3297470"/>
            <a:ext cx="829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Members</a:t>
            </a:r>
          </a:p>
        </p:txBody>
      </p:sp>
      <p:sp>
        <p:nvSpPr>
          <p:cNvPr id="9" name="Rectangle 8"/>
          <p:cNvSpPr/>
          <p:nvPr/>
        </p:nvSpPr>
        <p:spPr>
          <a:xfrm rot="20159744">
            <a:off x="2493405" y="2950509"/>
            <a:ext cx="6975179" cy="8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[ INSERT YOUR WORK-LET TEMPLATE HERE ]</a:t>
            </a:r>
          </a:p>
        </p:txBody>
      </p:sp>
    </p:spTree>
    <p:extLst>
      <p:ext uri="{BB962C8B-B14F-4D97-AF65-F5344CB8AC3E}">
        <p14:creationId xmlns:p14="http://schemas.microsoft.com/office/powerpoint/2010/main" val="38415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8" y="53922"/>
            <a:ext cx="94021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msungOne 200" panose="020B0203030303020204" pitchFamily="34" charset="0"/>
                <a:ea typeface="SamsungOne 200" panose="020B0203030303020204" pitchFamily="34" charset="0"/>
              </a:rPr>
              <a:t>Approach / Solution</a:t>
            </a:r>
            <a:endParaRPr lang="en-IN" sz="3200" b="1" dirty="0">
              <a:latin typeface="SamsungOne 200" panose="020B0203030303020204" pitchFamily="34" charset="0"/>
              <a:ea typeface="SamsungOne 200" panose="020B0203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" y="806514"/>
            <a:ext cx="1219199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Concept Diagram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600" dirty="0">
                <a:solidFill>
                  <a:srgbClr val="0E4094"/>
                </a:solidFill>
              </a:rPr>
              <a:t>      ( Clear detailed schematic / block diagram /  flow chart depicting the proposed concept / solution  )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1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8" y="53922"/>
            <a:ext cx="94021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msungOne 200" panose="020B0203030303020204" pitchFamily="34" charset="0"/>
                <a:ea typeface="SamsungOne 200" panose="020B0203030303020204" pitchFamily="34" charset="0"/>
              </a:rPr>
              <a:t>Dataset(s) Analysis / Description</a:t>
            </a:r>
            <a:endParaRPr lang="en-IN" sz="3200" b="1" dirty="0">
              <a:latin typeface="SamsungOne 200" panose="020B0203030303020204" pitchFamily="34" charset="0"/>
              <a:ea typeface="SamsungOne 200" panose="020B0203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806514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Dataset Capture / Preparation / Generation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(Discuss the dataset generation process or if downloaded data provide details of what data &amp; from where it was obtained etc… - 2 to 3 bullets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" y="2828862"/>
            <a:ext cx="1219199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Dataset Understanding / Analysis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600" dirty="0">
                <a:solidFill>
                  <a:srgbClr val="0E4094"/>
                </a:solidFill>
              </a:rPr>
              <a:t>      </a:t>
            </a:r>
            <a:r>
              <a:rPr lang="en-US" sz="1200" dirty="0">
                <a:solidFill>
                  <a:srgbClr val="0E4094"/>
                </a:solidFill>
              </a:rPr>
              <a:t>(Provide 2 to 3 bullets about what is your understanding of the data / opinion about the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51210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Dataset Pre-Processing / Related Challenges (if any)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(List out the challenges you  fore see in data handling </a:t>
            </a:r>
            <a:r>
              <a:rPr lang="en-US" sz="1200" dirty="0" err="1">
                <a:solidFill>
                  <a:srgbClr val="0E4094"/>
                </a:solidFill>
              </a:rPr>
              <a:t>wrt</a:t>
            </a:r>
            <a:r>
              <a:rPr lang="en-US" sz="1200" dirty="0">
                <a:solidFill>
                  <a:srgbClr val="0E4094"/>
                </a:solidFill>
              </a:rPr>
              <a:t> problem definition – 2 to 3 bullets only)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8" y="53922"/>
            <a:ext cx="94021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msungOne 200" panose="020B0203030303020204" pitchFamily="34" charset="0"/>
                <a:ea typeface="SamsungOne 200" panose="020B0203030303020204" pitchFamily="34" charset="0"/>
              </a:rPr>
              <a:t>Experimental Results / Simulations / Observations</a:t>
            </a:r>
            <a:endParaRPr lang="en-IN" sz="3200" b="1" dirty="0">
              <a:latin typeface="SamsungOne 200" panose="020B0203030303020204" pitchFamily="34" charset="0"/>
              <a:ea typeface="SamsungOne 200" panose="020B0203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" y="806514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Results 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(provide numerical data / bar charts / plots / images / videos / tabulated results etc. Use full slide or multiple slides up to max 3 slides to demonstrate the results)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49226"/>
            <a:ext cx="12191999" cy="522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Major Observations / Conclusions &amp; Challenges 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(provide details about your findings, experimental opinion – Use separate slide if necessary)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7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8" y="53922"/>
            <a:ext cx="94021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msungOne 200" panose="020B0203030303020204" pitchFamily="34" charset="0"/>
                <a:ea typeface="SamsungOne 200" panose="020B0203030303020204" pitchFamily="34" charset="0"/>
              </a:rPr>
              <a:t>Deliverable</a:t>
            </a:r>
            <a:endParaRPr lang="en-IN" sz="3200" b="1" dirty="0">
              <a:latin typeface="SamsungOne 200" panose="020B0203030303020204" pitchFamily="34" charset="0"/>
              <a:ea typeface="SamsungOne 200" panose="020B0203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" y="806514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Final Deliverables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(Discuss in the form of bullets, what are the next steps to complete the solution, any road blocks / bottlenecks, any support needed from SRIB)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3101658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IP / Paper Publication Plan 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(Details of papers / patentable ideas / innovative aspects that can lead to patentable ideas)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843102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KPIs delivered/Expectations Met</a:t>
            </a:r>
            <a:r>
              <a:rPr lang="en-US" sz="1600" dirty="0">
                <a:solidFill>
                  <a:srgbClr val="0E4094"/>
                </a:solidFill>
              </a:rPr>
              <a:t>: </a:t>
            </a:r>
          </a:p>
          <a:p>
            <a:pPr algn="just"/>
            <a:r>
              <a:rPr lang="en-US" sz="1200" dirty="0">
                <a:solidFill>
                  <a:srgbClr val="0E4094"/>
                </a:solidFill>
              </a:rPr>
              <a:t>      (Planned Expectations shared in Work-let vs Delivered Results) </a:t>
            </a:r>
            <a:endParaRPr lang="en-US" sz="1600" dirty="0">
              <a:solidFill>
                <a:srgbClr val="0E40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81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8" y="53922"/>
            <a:ext cx="94021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msungOne 200" panose="020B0203030303020204" pitchFamily="34" charset="0"/>
                <a:ea typeface="SamsungOne 200" panose="020B0203030303020204" pitchFamily="34" charset="0"/>
              </a:rPr>
              <a:t>Work-let Closure Details</a:t>
            </a:r>
            <a:endParaRPr lang="en-IN" sz="3200" b="1" dirty="0">
              <a:latin typeface="SamsungOne 200" panose="020B0203030303020204" pitchFamily="34" charset="0"/>
              <a:ea typeface="SamsungOne 200" panose="020B0203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" y="798941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Code Upload details:</a:t>
            </a:r>
          </a:p>
          <a:p>
            <a:pPr marL="742950" lvl="1" indent="-285750" algn="just">
              <a:buFontTx/>
              <a:buChar char="-"/>
            </a:pPr>
            <a:endParaRPr lang="en-IN" sz="1200" dirty="0">
              <a:solidFill>
                <a:srgbClr val="0E4094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111330"/>
              </p:ext>
            </p:extLst>
          </p:nvPr>
        </p:nvGraphicFramePr>
        <p:xfrm>
          <a:off x="690881" y="1477829"/>
          <a:ext cx="10083800" cy="1703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900">
                  <a:extLst>
                    <a:ext uri="{9D8B030D-6E8A-4147-A177-3AD203B41FA5}">
                      <a16:colId xmlns:a16="http://schemas.microsoft.com/office/drawing/2014/main" val="1592361967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806716463"/>
                    </a:ext>
                  </a:extLst>
                </a:gridCol>
              </a:tblGrid>
              <a:tr h="184874">
                <a:tc>
                  <a:txBody>
                    <a:bodyPr/>
                    <a:lstStyle/>
                    <a:p>
                      <a:r>
                        <a:rPr lang="en-IN" sz="1400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63140"/>
                  </a:ext>
                </a:extLst>
              </a:tr>
              <a:tr h="45585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E4094"/>
                          </a:solidFill>
                        </a:rPr>
                        <a:t>KLOC (Number OF Lines of codes in 000’s)</a:t>
                      </a:r>
                      <a:r>
                        <a:rPr lang="en-IN" sz="1400" baseline="0" dirty="0">
                          <a:solidFill>
                            <a:srgbClr val="0E4094"/>
                          </a:solidFill>
                        </a:rPr>
                        <a:t> </a:t>
                      </a:r>
                      <a:r>
                        <a:rPr lang="en-IN" sz="1400" dirty="0">
                          <a:solidFill>
                            <a:srgbClr val="0E4094"/>
                          </a:solidFill>
                        </a:rPr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86457"/>
                  </a:ext>
                </a:extLst>
              </a:tr>
              <a:tr h="318790">
                <a:tc>
                  <a:txBody>
                    <a:bodyPr/>
                    <a:lstStyle/>
                    <a:p>
                      <a:r>
                        <a:rPr lang="en-IN" sz="1400" dirty="0"/>
                        <a:t>Model and Algorithm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623339"/>
                  </a:ext>
                </a:extLst>
              </a:tr>
              <a:tr h="319098">
                <a:tc>
                  <a:txBody>
                    <a:bodyPr/>
                    <a:lstStyle/>
                    <a:p>
                      <a:r>
                        <a:rPr lang="en-IN" sz="1400" dirty="0"/>
                        <a:t>Is Mid review, end review report uploaded</a:t>
                      </a:r>
                      <a:r>
                        <a:rPr lang="en-IN" sz="1400" baseline="0" dirty="0"/>
                        <a:t> on Git ?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508182"/>
                  </a:ext>
                </a:extLst>
              </a:tr>
              <a:tr h="184874">
                <a:tc>
                  <a:txBody>
                    <a:bodyPr/>
                    <a:lstStyle/>
                    <a:p>
                      <a:r>
                        <a:rPr lang="en-IN" sz="1400" dirty="0"/>
                        <a:t>Link for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22194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" y="3547826"/>
            <a:ext cx="121919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E4094"/>
                </a:solidFill>
              </a:rPr>
              <a:t>Data details (if applicable):</a:t>
            </a:r>
          </a:p>
          <a:p>
            <a:pPr marL="742950" lvl="1" indent="-285750" algn="just">
              <a:buFontTx/>
              <a:buChar char="-"/>
            </a:pPr>
            <a:endParaRPr lang="en-IN" sz="1200" dirty="0">
              <a:solidFill>
                <a:srgbClr val="0E4094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42145"/>
              </p:ext>
            </p:extLst>
          </p:nvPr>
        </p:nvGraphicFramePr>
        <p:xfrm>
          <a:off x="690881" y="4394306"/>
          <a:ext cx="10083800" cy="190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599">
                  <a:extLst>
                    <a:ext uri="{9D8B030D-6E8A-4147-A177-3AD203B41FA5}">
                      <a16:colId xmlns:a16="http://schemas.microsoft.com/office/drawing/2014/main" val="159236196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80671646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64769648"/>
                    </a:ext>
                  </a:extLst>
                </a:gridCol>
                <a:gridCol w="2026921">
                  <a:extLst>
                    <a:ext uri="{9D8B030D-6E8A-4147-A177-3AD203B41FA5}">
                      <a16:colId xmlns:a16="http://schemas.microsoft.com/office/drawing/2014/main" val="609652109"/>
                    </a:ext>
                  </a:extLst>
                </a:gridCol>
              </a:tblGrid>
              <a:tr h="184874">
                <a:tc>
                  <a:txBody>
                    <a:bodyPr/>
                    <a:lstStyle/>
                    <a:p>
                      <a:r>
                        <a:rPr lang="en-IN" sz="1400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 folder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 folder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 Folder 3……..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63140"/>
                  </a:ext>
                </a:extLst>
              </a:tr>
              <a:tr h="45585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E4094"/>
                          </a:solidFill>
                        </a:rPr>
                        <a:t>Name &amp; Type of Data (Audio/Image/Video)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86457"/>
                  </a:ext>
                </a:extLst>
              </a:tr>
              <a:tr h="318790">
                <a:tc>
                  <a:txBody>
                    <a:bodyPr/>
                    <a:lstStyle/>
                    <a:p>
                      <a:r>
                        <a:rPr lang="en-IN" sz="1400" dirty="0"/>
                        <a:t>Number</a:t>
                      </a:r>
                      <a:r>
                        <a:rPr lang="en-IN" sz="1400" baseline="0" dirty="0"/>
                        <a:t> of data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623339"/>
                  </a:ext>
                </a:extLst>
              </a:tr>
              <a:tr h="319098">
                <a:tc>
                  <a:txBody>
                    <a:bodyPr/>
                    <a:lstStyle/>
                    <a:p>
                      <a:r>
                        <a:rPr lang="en-IN" sz="1400" dirty="0"/>
                        <a:t>Source</a:t>
                      </a:r>
                      <a:r>
                        <a:rPr lang="en-IN" sz="1400" baseline="0" dirty="0"/>
                        <a:t> of Data (self collected, Scrapped, available on open source)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508182"/>
                  </a:ext>
                </a:extLst>
              </a:tr>
              <a:tr h="184874">
                <a:tc>
                  <a:txBody>
                    <a:bodyPr/>
                    <a:lstStyle/>
                    <a:p>
                      <a:r>
                        <a:rPr lang="en-IN" sz="1400" dirty="0"/>
                        <a:t>Google drive link/ git link to access data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22194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 rot="20159744">
            <a:off x="4945037" y="2444522"/>
            <a:ext cx="6975179" cy="804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[ ALL DETAILS ON THIS SLIDE MANDATORY FOR WORK-LET CLOSURE AND CERTIFICATES]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1121" y="6397166"/>
            <a:ext cx="768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/>
              <a:t>Note: If data uploaded on google drive, access to be shared to </a:t>
            </a:r>
            <a:r>
              <a:rPr lang="en-IN" sz="1200" dirty="0">
                <a:hlinkClick r:id="rId3"/>
              </a:rPr>
              <a:t>prism.srib@gmail.com</a:t>
            </a:r>
            <a:endParaRPr lang="en-IN" sz="1200" dirty="0"/>
          </a:p>
          <a:p>
            <a:pPr algn="r"/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55725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6548" y="526774"/>
            <a:ext cx="9157252" cy="5650189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IN" sz="13800" dirty="0">
                <a:solidFill>
                  <a:schemeClr val="accent1"/>
                </a:solidFill>
                <a:latin typeface="Edwardian Script ITC" panose="030303020407070D0804" pitchFamily="66" charset="0"/>
              </a:rPr>
              <a:t>Thank you</a:t>
            </a:r>
            <a:endParaRPr lang="en-US" sz="13800" dirty="0">
              <a:solidFill>
                <a:schemeClr val="accent1"/>
              </a:solidFill>
              <a:latin typeface="Edwardian Script ITC" panose="030303020407070D08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4740" y="-24610"/>
            <a:ext cx="984547" cy="68826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16225" cy="6857999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85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10F4B6-D08F-47D9-B0A7-CD40489FD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4CF29C-A072-4781-BF19-793F68950CFD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D2AA5D9D-5A9B-4FD5-89A5-55B569A6427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798</Words>
  <Application>Microsoft Office PowerPoint</Application>
  <PresentationFormat>Widescreen</PresentationFormat>
  <Paragraphs>120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Karanvir Singh</cp:lastModifiedBy>
  <cp:revision>26</cp:revision>
  <dcterms:created xsi:type="dcterms:W3CDTF">2019-07-24T12:22:39Z</dcterms:created>
  <dcterms:modified xsi:type="dcterms:W3CDTF">2026-06-28T09:52:35Z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