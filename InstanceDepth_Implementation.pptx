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0–2 m</c:v>
                  </c:pt>
                  <c:pt idx="1">
                    <c:v>2–4 m</c:v>
                  </c:pt>
                  <c:pt idx="2">
                    <c:v>4–6 m</c:v>
                  </c:pt>
                  <c:pt idx="3">
                    <c:v>6–8 m</c:v>
                  </c:pt>
                  <c:pt idx="4">
                    <c:v>8–10 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73.1</c:v>
                </c:pt>
                <c:pt idx="1">
                  <c:v>17.4</c:v>
                </c:pt>
                <c:pt idx="2">
                  <c:v>2.1</c:v>
                </c:pt>
                <c:pt idx="3">
                  <c:v>2.9</c:v>
                </c:pt>
                <c:pt idx="4">
                  <c:v>4.5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rgbClr val="0E7C86"/>
            </a:solidFill>
            <a:ln w="38100" cap="flat">
              <a:solidFill>
                <a:srgbClr val="0E7C8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100</c:v>
                  </c:pt>
                  <c:pt idx="2">
                    <c:v>200</c:v>
                  </c:pt>
                  <c:pt idx="3">
                    <c:v>500</c:v>
                  </c:pt>
                  <c:pt idx="4">
                    <c:v>1k</c:v>
                  </c:pt>
                  <c:pt idx="5">
                    <c:v>2k</c:v>
                  </c:pt>
                  <c:pt idx="6">
                    <c:v>3k</c:v>
                  </c:pt>
                  <c:pt idx="7">
                    <c:v>4k</c:v>
                  </c:pt>
                  <c:pt idx="8">
                    <c:v>5k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8.72</c:v>
                </c:pt>
                <c:pt idx="1">
                  <c:v>3.59</c:v>
                </c:pt>
                <c:pt idx="2">
                  <c:v>2.97</c:v>
                </c:pt>
                <c:pt idx="3">
                  <c:v>2.3</c:v>
                </c:pt>
                <c:pt idx="4">
                  <c:v>1.9</c:v>
                </c:pt>
                <c:pt idx="5">
                  <c:v>1.99</c:v>
                </c:pt>
                <c:pt idx="6">
                  <c:v>1.34</c:v>
                </c:pt>
                <c:pt idx="7">
                  <c:v>1.29</c:v>
                </c:pt>
                <c:pt idx="8">
                  <c:v>1.52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7B"/>
                    </a:solidFill>
                    <a:latin typeface="Arial"/>
                  </a:rPr>
                  <a:t>training step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I reproduced the ICCV 2025 InstanceDepth paper. I was given only the paper — every code file is mine, inferred from the paper and the works it builds on. I also replaced their GID dataset with my own RGB-D videos, generating all the extra annotations automatically with SAM3.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two halves: reproduce + adapt. Then introduce the colour code — teal = paper, blue = strongly inferred, amber = my own reasoned choice. Tell the mentor these tags appear on every slide so they can instantly see what is mine.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failure mode in plain terms: pixel-wise depth blurs across overlapping people. The paper's idea is two-stage — coarse global depth, then per-instance occlusion-aware correction. This whole slide is the paper's contribution; my job was to build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RGB in, shared DINOv2 backbone, then two branches — Stage 1 holistic depth and Stage 2 instance head — that merge in the occlusion-refinement block to produce the final depth. Note the one engineering reading: the paper shows multiple encoder boxes, but they're driven by shared features, so I use a single backbone.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data work. The model expects five things per frame. I had RGB and depth; the other three (masks, tracking IDs, ground) plus the derived depth-layer I generate automatically. The output matches GID's structure exactly, so no model code changes are needed for the data swap.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automated steps turn raw video into GID-style annotations. Emphasise the substitution: SAM3 replaces the paper's two-tool SAM+DEVA chain, doing segmentation and tracking together. Mention the practical robustness I added: depth unit auto-detection and invalid-pixel masking.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scale: 306 videos, 50k frames, one class. The 20% test split matches the paper. The key analytical point is the depth histogram — most action is within 2 m of the camera, which I use to justify finer depth partitioning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Backbone is DINOv2 per the paper; the DPT neck to recover multiple scales is inferred from DA-V2 (the paper's own baseline = DINOv2+DPT). On the right, real tensor shapes. The input size is my choice — the paper never states it — and 504×896 is the unique near-size that is both divisible by 14 and aspect-exact for my 720×1280 frames.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 = coarse global depth. The decoder (paper Fig. 5) uses patch conv + linear + patch attention across scales. It outputs a range segmentation S and an initial depth D, then refines D a few times. The paper shows the blocks; I had to choose the attention wiring, add a cross-entropy supervision for S, and set 3 refinement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loop in words: confidence C per band, weighted by the band probabilities S, gives a score R; convert R into a depth nudge E; add it; repeat. Then the key reasoning: as printed, the correction can only shrink depth (R is bounded in [0,1]). I use the symmetric (2R−1) form so depth can increase or decrease — and this matches the paper's own Eq. 9 pattern, so it's a consistency fix, not an invention.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2a adds instance reasoning. Built on Mask2Former, each query yields mask + class + a depth layer (the paper's new head). Predictions are matched one-to-one to ground-truth people by a Hungarian cost over mask, class and depth. My choices: a plain FPN pixel decoder for reproducibility, 100 queries (well above my max of 10 people/frame), and the fusion wiring.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2b is the occlusion core. Filter to confident instances (0.9/0.8), find overlapping pairs (IoU&gt;0.1), keep the nearest as the 'guest'. An MLP on pooled features predicts a signed depth correction (Eqs. 8–9). Two losses: scale-invariant log on refined depth, and a pairwise distance loss that enforces the correct front/back gap. My defaults: 7×7 ROI and D̄ = the instance's own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ordered phases, each freezing part of the model: learn global depth, then instances, then occlusion correction. Iteration counts and learning rates are the paper's. Each phase starts from the previous checkpoint. This is fully paper-specified — I implemented the freezing logic to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a mentor will scrutinise. Walk the 'mine' rows and give the one-line reason for each: 1 m partitioning because my depth is near-field heavy; 504×896 because it's ÷14 and aspect-exact; 100 queries because my max is 10 people; 7×7 ROI and D̄ = depth layer as standard, distance-scaled defaults. Paper-specified rows are stated as-is.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summary slide. Three columns map cleanly to the colour code. Left: everything taken verbatim from the paper. Middle: things not stated but directly implied by the cited works. Right: my own reasoned engineering — most importantly the SAM3 data pipeline and the dataset-driven hyper-parameters. Invite the mentor to focus questions on the amber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correctness, the code is research-lab quality: one config system, docstrings that label provenance, and three practical adaptations that made it actually run on my Samsung cluster — offline weights, robust depth loading, and memory-safe data streaming. The same code path also serves evaluation and the ablations.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Status: everything implemented and running; 50k frames annotated; Phase 1 loss is descending cleanly from 8.7 to ~1.3. Next: finish Phases 2–3, evaluate on the test split, and run the partition and loss ablations. Set expectations: my absolute numbers won't equal the paper's GID numbers because the dataset differs — the thing being reproduced is the relative improvement each stage delivers.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931920"/>
            <a:ext cx="3291840" cy="3291840"/>
          </a:xfrm>
          <a:prstGeom prst="ellipse">
            <a:avLst/>
          </a:prstGeom>
          <a:solidFill>
            <a:srgbClr val="0A5C6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D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ICCV 2025  ·  REPRODUCTION &amp; CUSTOM-DATASET ADAPTATION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Instance-Level Video Depth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Groups Beyond Occlusions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 re-implementation of the InstanceDepth framework, rebuilt from the paper alone and adapted to a custom RGB-D activity dataset using a SAM3 annotation pipeline.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892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7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50,323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5532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annotated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49040" y="4892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7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3-phase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749040" y="5532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49440" y="4892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7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949440" y="5532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written from scratch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how to read this deck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had two halves, and a labelling system runs through every technical slide.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·  Reproduce the method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full InstanceDepth architecture in PyTorch from the paper, staying faithful to its equations and training schedule.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reference code existed — modules were inferred from the cited works (DINOv2, DPT, Mask2Former, ROIAlign).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FBF1E2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7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·  Adapt to my own data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0" y="219456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paper's GID dataset with my RGB-D videos of people doing activities (walking, meeting, greeting).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every annotation the model needs — instance masks, tracking IDs, ground masks, depth layers — with a SAM3 pipeline.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choice in this deck carries one of three labels: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60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SPECIFIED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926080" y="41330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stated in the paper — implemented as written.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87375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737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INFERRED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926080" y="4846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stated, but directly implied by the paper and the works it cites.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586984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C77F2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5869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ASSUMPTION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26080" y="55595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choice I had to make where the paper is silent — always justified.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and the core idea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349240" cy="2103120"/>
          </a:xfrm>
          <a:prstGeom prst="roundRect">
            <a:avLst>
              <a:gd name="adj" fmla="val 3043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481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ordinary depth fails in crowds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depth models predict one depth per pixel and treat the scene as a smooth surface.</a:t>
            </a:r>
            <a:endParaRPr lang="en-US" sz="12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people overlap, the boundary between a closer and farther person becomes ambiguous — depth ‘bleeds’ across the occlusion.</a:t>
            </a:r>
            <a:endParaRPr lang="en-US" sz="12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concentrate exactly at person-to-person occlusions in dynamic, multi-object video.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325880"/>
            <a:ext cx="5349240" cy="2103120"/>
          </a:xfrm>
          <a:prstGeom prst="roundRect">
            <a:avLst>
              <a:gd name="adj" fmla="val 3043"/>
            </a:avLst>
          </a:prstGeom>
          <a:solidFill>
            <a:srgbClr val="FBF1E2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481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7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InstanceDepth's answer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estimate a coarse, scene-wide depth (the ‘holistic’ pass).</a:t>
            </a:r>
            <a:endParaRPr lang="en-US" sz="12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reason per-instance: give each person a depth ‘layer’ and explicitly compare occluding pairs.</a:t>
            </a:r>
            <a:endParaRPr lang="en-US" sz="12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depth using which person is in front — turning occlusion from a problem into a cue.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947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E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insight:  </a:t>
            </a:r>
            <a:pPr algn="ctr" indent="0" marL="0">
              <a:buNone/>
            </a:pPr>
            <a:r>
              <a:rPr lang="en-US" sz="1800" dirty="0">
                <a:solidFill>
                  <a:srgbClr val="EAF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is resolved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object and per occlusion</a:t>
            </a:r>
            <a:pPr algn="ctr" indent="0" marL="0">
              <a:buNone/>
            </a:pPr>
            <a:r>
              <a:rPr lang="en-US" sz="1800" dirty="0">
                <a:solidFill>
                  <a:srgbClr val="EAF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not per pixel in isolation.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9834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SPECIFIED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48840" y="4956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 and the two-stage idea are the paper's central contribution.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at a glance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EEF5F7"/>
          </a:solidFill>
          <a:ln/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8803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frame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504 × 896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057400" y="3383280"/>
            <a:ext cx="45720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06040" y="27889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27889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backbone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ViT-L/14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DPT neck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17720" y="3383280"/>
            <a:ext cx="411480" cy="-123444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3383280"/>
            <a:ext cx="411480" cy="123444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2148840"/>
            <a:ext cx="32004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29200" y="4617720"/>
            <a:ext cx="32004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94960" y="160020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160020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Holistic Depth Init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decoder + depth refine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94960" y="406908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C77F2A"/>
          </a:solidFill>
          <a:ln/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406908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Instance head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· classes · depth layers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92440" y="2148840"/>
            <a:ext cx="457200" cy="123444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4636008"/>
            <a:ext cx="457200" cy="-1252728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3383280"/>
            <a:ext cx="27432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869680" y="278892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13315C"/>
          </a:solidFill>
          <a:ln/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0" y="27889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Occlusion-aware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(pair reasoning)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771632" y="3383280"/>
            <a:ext cx="292608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1064240" y="2880360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1155680" y="288036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ViT-L backbone feeds both stages — avoids a second 300M-parameter encoder.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98932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989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SPECIFIED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103120" y="5989320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2103120" y="59893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INFERRED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069080" y="59618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&amp; flow: paper.   Sharing one backbone across stages: inferred from Fig. 7 (the paper draws separate encoder boxes driven by shared features).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GID-style dataset from my videos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needs five annotation types per frame. The paper's GID dataset ships them; my raw data had only two.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91672" cy="38404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645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the model consumes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91840" y="16459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98848" y="1645920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obtained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029968"/>
            <a:ext cx="110916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6E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029968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frame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6432" y="2176272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3456432" y="217627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98848" y="2029968"/>
            <a:ext cx="7031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left-camera frames (720×1280)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596896"/>
            <a:ext cx="11091672" cy="566928"/>
          </a:xfrm>
          <a:prstGeom prst="rect">
            <a:avLst/>
          </a:prstGeom>
          <a:solidFill>
            <a:srgbClr val="F5F9FA"/>
          </a:solidFill>
          <a:ln w="6350">
            <a:solidFill>
              <a:srgbClr val="D6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96896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depth map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56432" y="2743200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3456432" y="274320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98848" y="2596896"/>
            <a:ext cx="7031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ZED depth, stored as float .npy (metres)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163824"/>
            <a:ext cx="110916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6E2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163824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masks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456432" y="3310128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C77F2A"/>
          </a:solidFill>
          <a:ln/>
        </p:spPr>
      </p:sp>
      <p:sp>
        <p:nvSpPr>
          <p:cNvPr id="23" name="Text 21"/>
          <p:cNvSpPr/>
          <p:nvPr/>
        </p:nvSpPr>
        <p:spPr>
          <a:xfrm>
            <a:off x="3456432" y="331012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98848" y="3163824"/>
            <a:ext cx="7031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Per-person masks via SAM3 segmentation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730752"/>
            <a:ext cx="11091672" cy="566928"/>
          </a:xfrm>
          <a:prstGeom prst="rect">
            <a:avLst/>
          </a:prstGeom>
          <a:solidFill>
            <a:srgbClr val="F5F9FA"/>
          </a:solidFill>
          <a:ln w="6350">
            <a:solidFill>
              <a:srgbClr val="D6E2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73075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IDs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456432" y="3877056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C77F2A"/>
          </a:solidFill>
          <a:ln/>
        </p:spPr>
      </p:sp>
      <p:sp>
        <p:nvSpPr>
          <p:cNvPr id="28" name="Text 26"/>
          <p:cNvSpPr/>
          <p:nvPr/>
        </p:nvSpPr>
        <p:spPr>
          <a:xfrm>
            <a:off x="3456432" y="3877056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98848" y="3730752"/>
            <a:ext cx="7031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IDs across frames via SAM3 tracking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297680"/>
            <a:ext cx="110916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6E2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4297680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mask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456432" y="4443984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C77F2A"/>
          </a:solidFill>
          <a:ln/>
        </p:spPr>
      </p:sp>
      <p:sp>
        <p:nvSpPr>
          <p:cNvPr id="33" name="Text 31"/>
          <p:cNvSpPr/>
          <p:nvPr/>
        </p:nvSpPr>
        <p:spPr>
          <a:xfrm>
            <a:off x="3456432" y="4443984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98848" y="4297680"/>
            <a:ext cx="7031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Floor/ground via SAM3 text prompts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864608"/>
            <a:ext cx="11091672" cy="566928"/>
          </a:xfrm>
          <a:prstGeom prst="rect">
            <a:avLst/>
          </a:prstGeom>
          <a:solidFill>
            <a:srgbClr val="F5F9FA"/>
          </a:solidFill>
          <a:ln w="6350">
            <a:solidFill>
              <a:srgbClr val="D6E2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4864608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Per-instance depth layer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456432" y="5010912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C77F2A"/>
          </a:solidFill>
          <a:ln/>
        </p:spPr>
      </p:sp>
      <p:sp>
        <p:nvSpPr>
          <p:cNvPr id="38" name="Text 36"/>
          <p:cNvSpPr/>
          <p:nvPr/>
        </p:nvSpPr>
        <p:spPr>
          <a:xfrm>
            <a:off x="3456432" y="501091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498848" y="4864608"/>
            <a:ext cx="7031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Computed: mean valid depth inside each mask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58978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C7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annotation set structurally identical to GID, so the model code runs unchanged — only the masks/IDs/ground are produced by SAM3 instead of the paper's SAM + DEVA tools.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annotation pipeline (data engine)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962302" cy="2331720"/>
          </a:xfrm>
          <a:prstGeom prst="roundRect">
            <a:avLst>
              <a:gd name="adj" fmla="val 3262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7183" y="1755648"/>
            <a:ext cx="585216" cy="58521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1237183" y="17556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76656" y="2926080"/>
            <a:ext cx="17062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each RGB frame with its depth .npy across all 10 batches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29230" y="24460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830982" y="1554480"/>
            <a:ext cx="1962302" cy="2331720"/>
          </a:xfrm>
          <a:prstGeom prst="roundRect">
            <a:avLst>
              <a:gd name="adj" fmla="val 3262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19526" y="1755648"/>
            <a:ext cx="585216" cy="58521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3519526" y="17556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22422" y="24688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+ track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58998" y="2926080"/>
            <a:ext cx="17062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SAM3 with prompt “person” → masks with stable IDs per video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11573" y="24460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113325" y="1554480"/>
            <a:ext cx="1962302" cy="2331720"/>
          </a:xfrm>
          <a:prstGeom prst="roundRect">
            <a:avLst>
              <a:gd name="adj" fmla="val 3262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01868" y="1755648"/>
            <a:ext cx="585216" cy="58521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5801868" y="17556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204765" y="24688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241341" y="2926080"/>
            <a:ext cx="17062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SAM3 with “floor / ground” → binary ground mask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93915" y="24460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395667" y="1554480"/>
            <a:ext cx="1962302" cy="2331720"/>
          </a:xfrm>
          <a:prstGeom prst="roundRect">
            <a:avLst>
              <a:gd name="adj" fmla="val 3262"/>
            </a:avLst>
          </a:prstGeom>
          <a:solidFill>
            <a:srgbClr val="FBF1E2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84210" y="1755648"/>
            <a:ext cx="585216" cy="585216"/>
          </a:xfrm>
          <a:prstGeom prst="ellipse">
            <a:avLst/>
          </a:prstGeom>
          <a:solidFill>
            <a:srgbClr val="C77F2A"/>
          </a:solidFill>
          <a:ln/>
        </p:spPr>
      </p:sp>
      <p:sp>
        <p:nvSpPr>
          <p:cNvPr id="25" name="Text 23"/>
          <p:cNvSpPr/>
          <p:nvPr/>
        </p:nvSpPr>
        <p:spPr>
          <a:xfrm>
            <a:off x="8084210" y="17556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87107" y="24688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layers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523683" y="2926080"/>
            <a:ext cx="17062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valid metric depth inside each mask → per-instance depth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76258" y="24460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678010" y="1554480"/>
            <a:ext cx="1962302" cy="2331720"/>
          </a:xfrm>
          <a:prstGeom prst="roundRect">
            <a:avLst>
              <a:gd name="adj" fmla="val 3262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366553" y="1755648"/>
            <a:ext cx="585216" cy="58521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1" name="Text 29"/>
          <p:cNvSpPr/>
          <p:nvPr/>
        </p:nvSpPr>
        <p:spPr>
          <a:xfrm>
            <a:off x="10366553" y="17556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769450" y="24688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+ stats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806026" y="2926080"/>
            <a:ext cx="17062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videos → test set; write Fig-3-style statistics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16052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2793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Substitution vs. the paper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1520" y="46177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SAM (masks) + DEVA (video tracking), two stages.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Mine: SAM3 does masks AND tracking in one pass; ground via text prompts instead of manual clicks.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72200" y="416052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BF1E2"/>
          </a:solidFill>
          <a:ln w="12700">
            <a:solidFill>
              <a:srgbClr val="D6E2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42793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 I added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55080" y="46177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depth-unit detection (mm vs m) → everything scaled to metres.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Out-of-range / invalid depth pixels set to 0 so losses ignore them.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5806440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C77F2A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58064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ASSUMPTION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880360" y="57790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SAM3 substitution, text-prompted ground, and depth-unit handling are my engineering choices (paper used different tools / a different dataset).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generated dataset looks like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1051560"/>
          </a:xfrm>
          <a:prstGeom prst="roundRect">
            <a:avLst>
              <a:gd name="adj" fmla="val 6087"/>
            </a:avLst>
          </a:prstGeom>
          <a:solidFill>
            <a:srgbClr val="FBF1E2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727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7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04088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560320" cy="1051560"/>
          </a:xfrm>
          <a:prstGeom prst="roundRect">
            <a:avLst>
              <a:gd name="adj" fmla="val 6087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5727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50,323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47288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frames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2560320" cy="1051560"/>
          </a:xfrm>
          <a:prstGeom prst="roundRect">
            <a:avLst>
              <a:gd name="adj" fmla="val 6087"/>
            </a:avLst>
          </a:prstGeom>
          <a:solidFill>
            <a:srgbClr val="FBF1E2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807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7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04088" y="3355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class (person)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2697480"/>
            <a:ext cx="2560320" cy="1051560"/>
          </a:xfrm>
          <a:prstGeom prst="roundRect">
            <a:avLst>
              <a:gd name="adj" fmla="val 6087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29000" y="2807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447288" y="3355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people / frame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0B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9776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245 train  /  61 test  </a:t>
            </a:r>
            <a:pPr indent="0" marL="0">
              <a:buNone/>
            </a:pPr>
            <a:r>
              <a:rPr lang="en-US" sz="1350" dirty="0">
                <a:solidFill>
                  <a:srgbClr val="D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20% of videos held out, exactly the paper's protocol.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0936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depth distribution (share of instances)</a:t>
            </a:r>
            <a:endParaRPr lang="en-US" sz="14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126480" y="1691640"/>
          <a:ext cx="55778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6126480" y="4617720"/>
            <a:ext cx="5577840" cy="1417320"/>
          </a:xfrm>
          <a:prstGeom prst="roundRect">
            <a:avLst>
              <a:gd name="adj" fmla="val 4516"/>
            </a:avLst>
          </a:prstGeom>
          <a:solidFill>
            <a:srgbClr val="FBF1E2"/>
          </a:solidFill>
          <a:ln w="12700">
            <a:solidFill>
              <a:srgbClr val="D6E2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09360" y="4617720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7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→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people sit within 2 m of the camera. This near-field concentration directly motivates my depth-partition choice (next slides).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Backbone: DINOv2 + DPT, and the input size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394960" cy="2743200"/>
          </a:xfrm>
          <a:prstGeom prst="roundRect">
            <a:avLst>
              <a:gd name="adj" fmla="val 2333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extractor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ViT-L/14 backbone (pretrained), exactly as the paper specifies.</a:t>
            </a:r>
            <a:endParaRPr lang="en-US" sz="12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DPT-style ‘reassemble’ neck turns single-stride ViT tokens into a 3-level feature pyramid (strides 8 / 4 / 2).</a:t>
            </a:r>
            <a:endParaRPr lang="en-US" sz="12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are taken from transformer layers 11, 17, 23 and projected to 256 channels.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2062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SPECIFIED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03120" y="4206240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42062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INFERRED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backbone = paper.  DPT reassemble for multi-scale = inferred (Depth-Anything-V2, the paper's own baseline, is DINOv2 + DPT).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 shapes at my training size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13315C"/>
          </a:solidFill>
          <a:ln/>
        </p:spPr>
      </p:sp>
      <p:sp>
        <p:nvSpPr>
          <p:cNvPr id="15" name="Text 13"/>
          <p:cNvSpPr/>
          <p:nvPr/>
        </p:nvSpPr>
        <p:spPr>
          <a:xfrm>
            <a:off x="6382512" y="173736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915400" y="17373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504 × 896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2267712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13315C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226771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tokens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15400" y="22677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2304 × 1024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2798064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279806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  (stride 8)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915400" y="279806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 × 63 × 112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09360" y="3328416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0E7C86"/>
          </a:solidFill>
          <a:ln/>
        </p:spPr>
      </p:sp>
      <p:sp>
        <p:nvSpPr>
          <p:cNvPr id="24" name="Text 22"/>
          <p:cNvSpPr/>
          <p:nvPr/>
        </p:nvSpPr>
        <p:spPr>
          <a:xfrm>
            <a:off x="6382512" y="332841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 (stride 4)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915400" y="332841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 × 126 × 224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09360" y="3858768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0E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6382512" y="385876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(stride 2)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15400" y="385876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 × 252 × 448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09360" y="4526280"/>
            <a:ext cx="5394960" cy="1508760"/>
          </a:xfrm>
          <a:prstGeom prst="roundRect">
            <a:avLst>
              <a:gd name="adj" fmla="val 4242"/>
            </a:avLst>
          </a:prstGeom>
          <a:solidFill>
            <a:srgbClr val="FBF1E2"/>
          </a:solidFill>
          <a:ln w="12700">
            <a:solidFill>
              <a:srgbClr val="D6E2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46360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504 × 896?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92240" y="495604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frames are 720×1280 — not divisible by 14, which the ViT requires.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504×896 is divisible by 14 and keeps the exact 9:16 aspect ratio (504/896 = 720/1280), so no distortion.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09360" y="6053328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C77F2A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6053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ASSUMPTION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 · Holistic Depth Initialization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multi-scale ‘depth-range’ decoder produces a coarse scene depth, then refines it over several steps.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EEF5F7"/>
          </a:solidFill>
          <a:ln/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691640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 features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/ 4 / 2)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88920" y="2148840"/>
            <a:ext cx="27432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54680" y="16916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27832" y="1691640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Patch-attention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(Fig. 5)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0" y="2148840"/>
            <a:ext cx="27432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852160" y="16916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25312" y="169164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seg  S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initial depth  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21040" y="2148840"/>
            <a:ext cx="27432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6800" y="16916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C77F2A"/>
          </a:solidFill>
          <a:ln/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59952" y="1691640"/>
            <a:ext cx="2459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→ D + E  (×3)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5394960" cy="2331720"/>
          </a:xfrm>
          <a:prstGeom prst="roundRect">
            <a:avLst>
              <a:gd name="adj" fmla="val 2745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30540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Depth-range decoder (Fig. 5)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" y="340156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scale: patch-wise conv → linear → patch attention, then fused coarse-to-fine.</a:t>
            </a:r>
            <a:endParaRPr lang="en-US" sz="12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‘Range segmentation’ S splits 0–10 m into rd bands and predicts which band each pixel is in.</a:t>
            </a:r>
            <a:endParaRPr lang="en-US" sz="12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depth head predicts the initial depth D from the fused features.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2926080"/>
            <a:ext cx="5394960" cy="2331720"/>
          </a:xfrm>
          <a:prstGeom prst="roundRect">
            <a:avLst>
              <a:gd name="adj" fmla="val 2745"/>
            </a:avLst>
          </a:prstGeom>
          <a:solidFill>
            <a:srgbClr val="FBF1E2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73368" y="30540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had to decide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3368" y="340156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Patch-attention internals (multi-head self-attention over patch tokens) — paper shows the block, not its wiring.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Supervising S with a cross-entropy loss against depth-binned ground truth — the natural training signal for a segmentation head.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refinement iterations on the shared features (depth updates each step).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4406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SPECIFIED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03120" y="5440680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2103120" y="54406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INFERRED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40480" y="5440680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C77F2A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54406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ASSUMPTION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80760" y="54132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decoder + the refinement equations are the paper's; internal wiring and the range-seg loss are inferred / assumed.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depth-refinement math (Eqs. 1–4)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refinement step nudges the depth using a confidence-weighted error signal.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AF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= Sigmoid( Φ ( features , D ) 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2494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 per-band confidence at each pixel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606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AF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Σ ( C · S 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25526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 confidence-weighted score, R ∈ [0, 1]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6118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AF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( 2R − 1 ) · ( MAX_d / rd 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2611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 signed depth correction, one band-width either way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0B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617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AF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← D + 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52669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 update the depth; repeat ×3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1600200"/>
            <a:ext cx="5303520" cy="4160520"/>
          </a:xfrm>
          <a:prstGeom prst="roundRect">
            <a:avLst>
              <a:gd name="adj" fmla="val 1538"/>
            </a:avLst>
          </a:prstGeom>
          <a:solidFill>
            <a:srgbClr val="FBF1E2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1755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7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reasoned choice in Eq. 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2148840"/>
            <a:ext cx="4892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printed form  E = 2(R−1)·step  can only be ≤ 0 — because S sums to 1 and C ∈ [0,1] force R ∈ [0,1].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would let refinement only ever DECREASE depth, biasing every prediction toward the camera.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 the symmetric form  E = (2R−1)·step, which gives a signed correction in [−step, +step] — depth can move either way.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matches the paper's own later equation (Eq. 9 uses exactly the (2·E − 1) signed pattern), so it restores internal consistency.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98932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989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SPECIFIED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103120" y="5989320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C77F2A"/>
          </a:solidFill>
          <a:ln/>
        </p:spPr>
      </p:sp>
      <p:sp>
        <p:nvSpPr>
          <p:cNvPr id="24" name="Text 22"/>
          <p:cNvSpPr/>
          <p:nvPr/>
        </p:nvSpPr>
        <p:spPr>
          <a:xfrm>
            <a:off x="2103120" y="59893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ASSUMPTION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43400" y="59618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 are the paper's; the signed reading of Eq. 3 is my correction, justified by the paper's own Eq. 9.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2a · Instance depth layers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Mask2Former-style head predicts, for each query: a mask, a class, and one depth value (the instance's ‘layer’).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2377440"/>
          </a:xfrm>
          <a:prstGeom prst="roundRect">
            <a:avLst>
              <a:gd name="adj" fmla="val 2692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737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Per-query outputs (100 queries)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084832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 — where the instance is (dot of query with mask features).</a:t>
            </a:r>
            <a:endParaRPr lang="en-US" sz="12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— person vs. ‘no object’.</a:t>
            </a:r>
            <a:endParaRPr lang="en-US" sz="12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layer — the instance's average depth (the new head the paper adds on top of Mask2Former).</a:t>
            </a:r>
            <a:endParaRPr lang="en-US" sz="12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query-fusion block conditions the depth query on the mask query.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03520" cy="2377440"/>
          </a:xfrm>
          <a:prstGeom prst="roundRect">
            <a:avLst>
              <a:gd name="adj" fmla="val 2692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64808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predictions to ground truth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64808" y="2148840"/>
            <a:ext cx="4892040" cy="868680"/>
          </a:xfrm>
          <a:prstGeom prst="roundRect">
            <a:avLst>
              <a:gd name="adj" fmla="val 6316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6601968" y="214884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AF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= λ₁·L_mask + λ₂·L_class + λ₃·L_depth     (5–7)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64808" y="31089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(one-to-one) matching picks the best prediction for each real person.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mixes mask overlap, class probability, and depth-layer difference (smoothed-L1).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11091672" cy="1234440"/>
          </a:xfrm>
          <a:prstGeom prst="roundRect">
            <a:avLst>
              <a:gd name="adj" fmla="val 5185"/>
            </a:avLst>
          </a:prstGeom>
          <a:solidFill>
            <a:srgbClr val="FBF1E2"/>
          </a:solidFill>
          <a:ln w="12700">
            <a:solidFill>
              <a:srgbClr val="D6E2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315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Choices I made here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49808" y="4645152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decoder: a standard FPN (instead of the heavier deformable-attention variant) — reproducible without a custom CUDA op. 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queries (Mask2Former default) — far above my busiest frame (max 10 people), so capacity is never a bottleneck. 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Query-fusion wiring as a gated cross-stream MLP.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6235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SPECIFIED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103120" y="5623560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C77F2A"/>
          </a:solidFill>
          <a:ln/>
        </p:spPr>
      </p:sp>
      <p:sp>
        <p:nvSpPr>
          <p:cNvPr id="20" name="Text 18"/>
          <p:cNvSpPr/>
          <p:nvPr/>
        </p:nvSpPr>
        <p:spPr>
          <a:xfrm>
            <a:off x="2103120" y="56235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ASSUMPTION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43400" y="55961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Mask2Former base, the depth-layer head, and the matching cost are the paper's; pixel-decoder type, query count, and fusion wiring are mine.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2b · Occlusion-aware refinement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overlapping people, compare the pair and correct depth using which one is in front.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1874520"/>
          </a:xfrm>
          <a:prstGeom prst="roundRect">
            <a:avLst>
              <a:gd name="adj" fmla="val 3415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737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Selecting occluding pairs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084832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confident instances:  class &gt; 0.9  and  mask &gt; 0.8.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main person, find overlapping ones (IoU &gt; 0.1) and keep the nearest in depth — the ‘guest’.</a:t>
            </a:r>
            <a:endParaRPr lang="en-US" sz="12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ROIAlign pools depth features + geometry for the pair.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03520" cy="1874520"/>
          </a:xfrm>
          <a:prstGeom prst="roundRect">
            <a:avLst>
              <a:gd name="adj" fmla="val 3415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64808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Correcting the depth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64808" y="210312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6601968" y="210312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AF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E_obj = Sigmoid( Φ ( [ F_obj , G_obj ] ) )   (8)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64808" y="274320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601968" y="274320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AF4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D̂_obj = ( 2·E_obj − 1 ) · D̄ + D_obj   (9)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64808" y="331012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MLP predicts a signed per-instance depth correction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0332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3E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Training: 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L_ref = λ₁·L_obj + λ₂·L_dist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L_obj is a scale-invariant log loss on refined depth (Eq. 10); L_dist enforces the right depth gap between occluder and occludee (Eq. 11).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FBF1E2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9808" y="475488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C7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choices: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pool size 7×7 (standard ROIAlign), and the reference depth  D̄ = the instance's own depth layer (so the correction scales with distance). The paper leaves both unstated.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76072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7607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SPECIFIED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103120" y="5760720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C77F2A"/>
          </a:solidFill>
          <a:ln/>
        </p:spPr>
      </p:sp>
      <p:sp>
        <p:nvSpPr>
          <p:cNvPr id="23" name="Text 21"/>
          <p:cNvSpPr/>
          <p:nvPr/>
        </p:nvSpPr>
        <p:spPr>
          <a:xfrm>
            <a:off x="2103120" y="57607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ASSUMPTION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343400" y="57332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Thresholds, equations and losses are the paper's; ROI size and the D̄ definition are my reasoned defaults.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Three-phase training schedule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trains in three ordered phases, each freezing part of the network — implemented exactly as specified.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453384" cy="3108960"/>
          </a:xfrm>
          <a:prstGeom prst="roundRect">
            <a:avLst>
              <a:gd name="adj" fmla="val 2059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3453384" cy="64008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45920"/>
            <a:ext cx="3453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423160"/>
            <a:ext cx="312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depth pre-training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3017520"/>
            <a:ext cx="2904744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17520"/>
            <a:ext cx="2904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55k iters · lr 1e-5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3520440"/>
            <a:ext cx="3051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backbone + holistic-depth decoder. Learns scene-wide depth.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020312" y="29260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367784" y="1645920"/>
            <a:ext cx="3453384" cy="3108960"/>
          </a:xfrm>
          <a:prstGeom prst="roundRect">
            <a:avLst>
              <a:gd name="adj" fmla="val 2059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67784" y="1645920"/>
            <a:ext cx="3453384" cy="64008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367784" y="1645920"/>
            <a:ext cx="3453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32376" y="2423160"/>
            <a:ext cx="312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 specialization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642104" y="3017520"/>
            <a:ext cx="2904744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2104" y="3017520"/>
            <a:ext cx="2904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 iters · lr 1e-5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68952" y="3520440"/>
            <a:ext cx="3051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depth encoder; train the instance head (masks + depth layers).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39456" y="29260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186928" y="1645920"/>
            <a:ext cx="3453384" cy="3108960"/>
          </a:xfrm>
          <a:prstGeom prst="roundRect">
            <a:avLst>
              <a:gd name="adj" fmla="val 2059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86928" y="1645920"/>
            <a:ext cx="3453384" cy="640080"/>
          </a:xfrm>
          <a:prstGeom prst="roundRect">
            <a:avLst>
              <a:gd name="adj" fmla="val 10000"/>
            </a:avLst>
          </a:prstGeom>
          <a:solidFill>
            <a:srgbClr val="13315C"/>
          </a:solidFill>
          <a:ln/>
        </p:spPr>
      </p:sp>
      <p:sp>
        <p:nvSpPr>
          <p:cNvPr id="24" name="Text 22"/>
          <p:cNvSpPr/>
          <p:nvPr/>
        </p:nvSpPr>
        <p:spPr>
          <a:xfrm>
            <a:off x="8186928" y="1645920"/>
            <a:ext cx="3453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51520" y="2423160"/>
            <a:ext cx="312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Occlusion refinement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461248" y="3017520"/>
            <a:ext cx="2904744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240">
            <a:solidFill>
              <a:srgbClr val="1331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61248" y="3017520"/>
            <a:ext cx="2904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 iters · lr 1e-6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88096" y="3520440"/>
            <a:ext cx="3051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instance head; fine-tune encoder + decoder + the pair-reasoning MLP.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11091672" cy="731520"/>
          </a:xfrm>
          <a:prstGeom prst="roundRect">
            <a:avLst>
              <a:gd name="adj" fmla="val 8750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02920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freezing: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is learned first, instances second, and occlusion corrections last — each phase initialised from the previous checkpoint.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94360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59436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SPECIFIED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148840" y="59161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order, iteration counts, learning rates and the freezing strategy are all specified by the paper (Sec. 4.3).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values &amp; the reasoning behind mine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005840"/>
                <a:gridCol w="597103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Reasoning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Max depth (MAX_d)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 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Stated in the paper.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Depth partition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m  (rd = 10)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F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73% of my people are within 2 m; finer bands give resolution where data concentrates (paper's best on GID was 2 m, but its depth spread is wider).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Input resolution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504 × 896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F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Divisible by 14 (ViT need) and exact 9:16 of my 720×1280 frames → no distortion.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Refinement steps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inferred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Matches the number of decoder scales; depth updates each step.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Queries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F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Mask2Former default; my busiest frame has 10 people, so ample headroom.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ROIAlign output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 × 7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F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Standard ROIAlign size; paper leaves it unstated.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Pair thresholds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cls 0.9 · mask 0.8 · IoU 0.1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Exactly the paper's filtering values.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Reference depth D̄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instance depth layer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F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Makes the correction scale with the instance's distance.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came from the paper vs. what I added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38728" cy="4526280"/>
          </a:xfrm>
          <a:prstGeom prst="roundRect">
            <a:avLst>
              <a:gd name="adj" fmla="val 1809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3538728" cy="594360"/>
          </a:xfrm>
          <a:prstGeom prst="roundRect">
            <a:avLst>
              <a:gd name="adj" fmla="val 10769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3538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specified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method &amp; overall design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backbone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equations (1–12)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layer = avg instance depth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Mask2Former-based instance head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matching cost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 thresholds (0.9/0.8/0.1)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schedule, LRs, iters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0248" y="1417320"/>
            <a:ext cx="3538728" cy="4526280"/>
          </a:xfrm>
          <a:prstGeom prst="roundRect">
            <a:avLst>
              <a:gd name="adj" fmla="val 1809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70248" y="1417320"/>
            <a:ext cx="3538728" cy="594360"/>
          </a:xfrm>
          <a:prstGeom prst="roundRect">
            <a:avLst>
              <a:gd name="adj" fmla="val 10769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270248" y="1417320"/>
            <a:ext cx="3538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Strongly inferred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98848" y="219456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DPT reassemble for multi-scale features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over depth ranges (so R is an expectation)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Masked-attention mechanics in the decoder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supervision for range segmentation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‘No-object’ class weighting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91856" y="1417320"/>
            <a:ext cx="3538728" cy="4526280"/>
          </a:xfrm>
          <a:prstGeom prst="roundRect">
            <a:avLst>
              <a:gd name="adj" fmla="val 1809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91856" y="1417320"/>
            <a:ext cx="3538728" cy="594360"/>
          </a:xfrm>
          <a:prstGeom prst="roundRect">
            <a:avLst>
              <a:gd name="adj" fmla="val 10769"/>
            </a:avLst>
          </a:prstGeom>
          <a:solidFill>
            <a:srgbClr val="C77F2A"/>
          </a:solidFill>
          <a:ln/>
        </p:spPr>
      </p:sp>
      <p:sp>
        <p:nvSpPr>
          <p:cNvPr id="15" name="Text 13"/>
          <p:cNvSpPr/>
          <p:nvPr/>
        </p:nvSpPr>
        <p:spPr>
          <a:xfrm>
            <a:off x="7991856" y="1417320"/>
            <a:ext cx="3538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reasoned choices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0456" y="219456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SAM3 pipeline replacing GID / SAM + DEVA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 504×896 &amp; 1 m depth partition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FPN pixel decoder (vs deformable attention)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Query-fusion wiring &amp; query count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reading of Eq. 3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7×7 and D̄ = depth layer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weights, robust depth loading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Engineering: built to be reproducible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49240" cy="1280160"/>
          </a:xfrm>
          <a:prstGeom prst="roundRect">
            <a:avLst>
              <a:gd name="adj" fmla="val 5000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47088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62763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&amp; config-driven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63040" y="202996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YAML/RunConfig drives every module; widths and depths stay consistent across phases automatically.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463040"/>
            <a:ext cx="5349240" cy="1280160"/>
          </a:xfrm>
          <a:prstGeom prst="roundRect">
            <a:avLst>
              <a:gd name="adj" fmla="val 5000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84708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86600" y="162763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Faithful, labelled code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086600" y="202996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module's docstring states what is paper-specified vs. inferred — traceable back to the paper.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5349240" cy="1280160"/>
          </a:xfrm>
          <a:prstGeom prst="roundRect">
            <a:avLst>
              <a:gd name="adj" fmla="val 5000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310128"/>
            <a:ext cx="502920" cy="502920"/>
          </a:xfrm>
          <a:prstGeom prst="ellipse">
            <a:avLst/>
          </a:prstGeom>
          <a:solidFill>
            <a:srgbClr val="C77F2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309067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on a restricted cluster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63040" y="349300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weights load fully offline (no internet needed at train time).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2926080"/>
            <a:ext cx="5349240" cy="1280160"/>
          </a:xfrm>
          <a:prstGeom prst="roundRect">
            <a:avLst>
              <a:gd name="adj" fmla="val 5000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310128"/>
            <a:ext cx="502920" cy="502920"/>
          </a:xfrm>
          <a:prstGeom prst="ellipse">
            <a:avLst/>
          </a:prstGeom>
          <a:solidFill>
            <a:srgbClr val="C77F2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86600" y="309067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to messy data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086600" y="349300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loading tolerates channel/format edge cases; invalid pixels are masked from the loss.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389120"/>
            <a:ext cx="5349240" cy="1280160"/>
          </a:xfrm>
          <a:prstGeom prst="roundRect">
            <a:avLst>
              <a:gd name="adj" fmla="val 5000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4773168"/>
            <a:ext cx="502920" cy="502920"/>
          </a:xfrm>
          <a:prstGeom prst="ellipse">
            <a:avLst/>
          </a:prstGeom>
          <a:solidFill>
            <a:srgbClr val="C77F2A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773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63040" y="455371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Memory-safe training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463040" y="495604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Streaming, re-shuffling data iteration keeps host memory flat over long runs.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4389120"/>
            <a:ext cx="5349240" cy="1280160"/>
          </a:xfrm>
          <a:prstGeom prst="roundRect">
            <a:avLst>
              <a:gd name="adj" fmla="val 5000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4773168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4773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86600" y="455371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 across experiments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086600" y="495604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path serves training, evaluation, and the paper's ablation studies.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status, results &amp; next steps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Phase-1 training loss (live run)</a:t>
            </a:r>
            <a:endParaRPr lang="en-US" sz="14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45920"/>
          <a:ext cx="55778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5262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falls 8.7 → ~1.3 and is stable — Phase 1 is learning correctly.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55080" y="1417320"/>
            <a:ext cx="5303520" cy="2148840"/>
          </a:xfrm>
          <a:prstGeom prst="roundRect">
            <a:avLst>
              <a:gd name="adj" fmla="val 2979"/>
            </a:avLst>
          </a:prstGeom>
          <a:solidFill>
            <a:srgbClr val="EEF5F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56248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556248" y="18745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&amp; 3-phase pipeline implemented and runnable.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50,323 frames annotated end-to-end with SAM3.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training underway on a 40 GB GPU.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55080" y="3703320"/>
            <a:ext cx="5303520" cy="2240280"/>
          </a:xfrm>
          <a:prstGeom prst="roundRect">
            <a:avLst>
              <a:gd name="adj" fmla="val 2857"/>
            </a:avLst>
          </a:prstGeom>
          <a:solidFill>
            <a:srgbClr val="FBF1E2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AB3">
                <a:alpha val="2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56248" y="3822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77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556248" y="41605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Phases 2 &amp; 3 (instance head, occlusion refinement).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the test split (RMS, REL, δ accuracies).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paper's ablations (depth partition; loss terms).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absolute metrics will differ from the paper's GID numbers (different, smaller dataset) — the reproduced claim is the relative gain from each stage.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Instance-Level Video Depth — Implementation Report</dc:title>
  <dc:subject>PptxGenJS Presentation</dc:subject>
  <dc:creator>InstanceDepth Reproduction</dc:creator>
  <cp:lastModifiedBy>InstanceDepth Reproduction</cp:lastModifiedBy>
  <cp:revision>1</cp:revision>
  <dcterms:created xsi:type="dcterms:W3CDTF">2026-06-17T10:03:51Z</dcterms:created>
  <dcterms:modified xsi:type="dcterms:W3CDTF">2026-06-17T10:03:51Z</dcterms:modified>
</cp:coreProperties>
</file>